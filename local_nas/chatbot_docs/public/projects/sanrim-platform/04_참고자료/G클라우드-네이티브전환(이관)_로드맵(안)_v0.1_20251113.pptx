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</p:sldMasterIdLst>
  <p:notesMasterIdLst>
    <p:notesMasterId r:id="rId5"/>
  </p:notesMasterIdLst>
  <p:handoutMasterIdLst>
    <p:handoutMasterId r:id="rId6"/>
  </p:handoutMasterIdLst>
  <p:sldIdLst>
    <p:sldId id="450" r:id="rId2"/>
    <p:sldId id="628" r:id="rId3"/>
    <p:sldId id="629" r:id="rId4"/>
  </p:sldIdLst>
  <p:sldSz cx="12801600" cy="7200900"/>
  <p:notesSz cx="6735763" cy="9866313"/>
  <p:defaultTextStyle>
    <a:defPPr>
      <a:defRPr lang="ko-KR"/>
    </a:defPPr>
    <a:lvl1pPr marL="0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1pPr>
    <a:lvl2pPr marL="493685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2pPr>
    <a:lvl3pPr marL="987369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3pPr>
    <a:lvl4pPr marL="1481054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4pPr>
    <a:lvl5pPr marL="1974738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5pPr>
    <a:lvl6pPr marL="2468423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6pPr>
    <a:lvl7pPr marL="2962107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7pPr>
    <a:lvl8pPr marL="3455792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8pPr>
    <a:lvl9pPr marL="3949476" algn="l" defTabSz="987369" rtl="0" eaLnBrk="1" latinLnBrk="1" hangingPunct="1">
      <a:defRPr sz="194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 userDrawn="1">
          <p15:clr>
            <a:srgbClr val="A4A3A4"/>
          </p15:clr>
        </p15:guide>
        <p15:guide id="2" pos="403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000000"/>
    <a:srgbClr val="23ACF1"/>
    <a:srgbClr val="F1F7FE"/>
    <a:srgbClr val="FFFFFF"/>
    <a:srgbClr val="7FB7F3"/>
    <a:srgbClr val="E2E2E2"/>
    <a:srgbClr val="C9C9C9"/>
    <a:srgbClr val="A9A9A9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6357" autoAdjust="0"/>
  </p:normalViewPr>
  <p:slideViewPr>
    <p:cSldViewPr snapToGrid="0">
      <p:cViewPr varScale="1">
        <p:scale>
          <a:sx n="98" d="100"/>
          <a:sy n="98" d="100"/>
        </p:scale>
        <p:origin x="90" y="636"/>
      </p:cViewPr>
      <p:guideLst>
        <p:guide orient="horz" pos="2268"/>
        <p:guide pos="4031"/>
      </p:guideLst>
    </p:cSldViewPr>
  </p:slideViewPr>
  <p:outlineViewPr>
    <p:cViewPr>
      <p:scale>
        <a:sx n="33" d="100"/>
        <a:sy n="33" d="100"/>
      </p:scale>
      <p:origin x="0" y="-13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84"/>
    </p:cViewPr>
  </p:sorterViewPr>
  <p:notesViewPr>
    <p:cSldViewPr snapToGrid="0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464DA-A8C0-4BE2-B97A-4F6BB7CE53A3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76D09-CEFC-44A2-ADF3-B80562E4DD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6960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3A8E0-B231-4618-A7FB-3586426091C6}" type="datetimeFigureOut">
              <a:rPr lang="ko-KR" altLang="en-US" smtClean="0"/>
              <a:pPr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1ED82E-EFFE-4132-A496-3316152726C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380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1pPr>
    <a:lvl2pPr marL="493685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2pPr>
    <a:lvl3pPr marL="987369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3pPr>
    <a:lvl4pPr marL="1481054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4pPr>
    <a:lvl5pPr marL="1974738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5pPr>
    <a:lvl6pPr marL="2468423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6pPr>
    <a:lvl7pPr marL="2962107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7pPr>
    <a:lvl8pPr marL="3455792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8pPr>
    <a:lvl9pPr marL="3949476" algn="l" defTabSz="987369" rtl="0" eaLnBrk="1" latinLnBrk="1" hangingPunct="1">
      <a:defRPr sz="129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안개이(가) 표시된 사진&#10;&#10;자동 생성된 설명">
            <a:extLst>
              <a:ext uri="{FF2B5EF4-FFF2-40B4-BE49-F238E27FC236}">
                <a16:creationId xmlns:a16="http://schemas.microsoft.com/office/drawing/2014/main" id="{0E83C7FA-7FCC-C9F8-7F7C-7111070047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801600" cy="720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771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/>
          <p:cNvCxnSpPr/>
          <p:nvPr userDrawn="1"/>
        </p:nvCxnSpPr>
        <p:spPr bwMode="auto">
          <a:xfrm>
            <a:off x="0" y="4763"/>
            <a:ext cx="12801600" cy="0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 userDrawn="1"/>
        </p:nvCxnSpPr>
        <p:spPr bwMode="auto">
          <a:xfrm>
            <a:off x="422856" y="780331"/>
            <a:ext cx="1195392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 userDrawn="1"/>
        </p:nvCxnSpPr>
        <p:spPr bwMode="auto">
          <a:xfrm>
            <a:off x="422853" y="767631"/>
            <a:ext cx="11953931" cy="0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 userDrawn="1"/>
        </p:nvCxnSpPr>
        <p:spPr>
          <a:xfrm>
            <a:off x="0" y="7191375"/>
            <a:ext cx="12801600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 bwMode="auto">
          <a:xfrm>
            <a:off x="9790807" y="4763"/>
            <a:ext cx="300543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fld id="{EB10617F-29CF-4C22-9ED2-E1F392C1F4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3" name="Picture 2" descr="산림청">
            <a:extLst>
              <a:ext uri="{FF2B5EF4-FFF2-40B4-BE49-F238E27FC236}">
                <a16:creationId xmlns:a16="http://schemas.microsoft.com/office/drawing/2014/main" id="{0FD9CE47-6B4E-4D56-5D7C-E5F9271205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0" y="6824867"/>
            <a:ext cx="758188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BE97B00-0A17-F611-281E-4C744F8D6F9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1676790" y="6824867"/>
            <a:ext cx="987114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9216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fld id="{EB10617F-29CF-4C22-9ED2-E1F392C1F4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3" name="Picture 2" descr="산림청">
            <a:extLst>
              <a:ext uri="{FF2B5EF4-FFF2-40B4-BE49-F238E27FC236}">
                <a16:creationId xmlns:a16="http://schemas.microsoft.com/office/drawing/2014/main" id="{2F7FF05D-FEE1-F59D-7AE0-487E44E348F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0" y="6799412"/>
            <a:ext cx="758188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A1D0B4E9-6D5A-812E-D771-92DCBAE3499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1676790" y="6824867"/>
            <a:ext cx="987114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96066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 bwMode="auto">
          <a:xfrm>
            <a:off x="0" y="0"/>
            <a:ext cx="12801600" cy="7200900"/>
          </a:xfrm>
          <a:prstGeom prst="rect">
            <a:avLst/>
          </a:prstGeom>
          <a:solidFill>
            <a:srgbClr val="EAEAEA"/>
          </a:solidFill>
          <a:ln w="28575" algn="ctr">
            <a:solidFill>
              <a:srgbClr val="DDDDDD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" name="직선 연결선 3"/>
          <p:cNvCxnSpPr/>
          <p:nvPr userDrawn="1"/>
        </p:nvCxnSpPr>
        <p:spPr bwMode="auto">
          <a:xfrm>
            <a:off x="0" y="4763"/>
            <a:ext cx="12801600" cy="0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/>
          <p:cNvCxnSpPr/>
          <p:nvPr userDrawn="1"/>
        </p:nvCxnSpPr>
        <p:spPr bwMode="auto">
          <a:xfrm>
            <a:off x="422856" y="780331"/>
            <a:ext cx="1195392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 userDrawn="1"/>
        </p:nvCxnSpPr>
        <p:spPr bwMode="auto">
          <a:xfrm>
            <a:off x="422853" y="767631"/>
            <a:ext cx="11953931" cy="0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/>
          <p:cNvCxnSpPr/>
          <p:nvPr userDrawn="1"/>
        </p:nvCxnSpPr>
        <p:spPr bwMode="auto">
          <a:xfrm>
            <a:off x="9790807" y="4763"/>
            <a:ext cx="300543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fld id="{EB10617F-29CF-4C22-9ED2-E1F392C1F4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7191375"/>
            <a:ext cx="12801600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 descr="산림청">
            <a:extLst>
              <a:ext uri="{FF2B5EF4-FFF2-40B4-BE49-F238E27FC236}">
                <a16:creationId xmlns:a16="http://schemas.microsoft.com/office/drawing/2014/main" id="{21516696-BA85-89B7-00ED-C89069B97D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0" y="6799412"/>
            <a:ext cx="758188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>
            <a:extLst>
              <a:ext uri="{FF2B5EF4-FFF2-40B4-BE49-F238E27FC236}">
                <a16:creationId xmlns:a16="http://schemas.microsoft.com/office/drawing/2014/main" id="{7606DFDF-2F9A-CA4E-2267-948E759183E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1676790" y="6824867"/>
            <a:ext cx="987114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10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직선 연결선 29"/>
          <p:cNvCxnSpPr/>
          <p:nvPr userDrawn="1"/>
        </p:nvCxnSpPr>
        <p:spPr bwMode="auto">
          <a:xfrm>
            <a:off x="0" y="4763"/>
            <a:ext cx="12801600" cy="0"/>
          </a:xfrm>
          <a:prstGeom prst="line">
            <a:avLst/>
          </a:prstGeom>
          <a:ln w="571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 userDrawn="1"/>
        </p:nvCxnSpPr>
        <p:spPr bwMode="auto">
          <a:xfrm>
            <a:off x="422856" y="780331"/>
            <a:ext cx="11953929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/>
          <p:cNvCxnSpPr/>
          <p:nvPr userDrawn="1"/>
        </p:nvCxnSpPr>
        <p:spPr bwMode="auto">
          <a:xfrm>
            <a:off x="422853" y="767631"/>
            <a:ext cx="11953931" cy="0"/>
          </a:xfrm>
          <a:prstGeom prst="line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 userDrawn="1"/>
        </p:nvCxnSpPr>
        <p:spPr>
          <a:xfrm>
            <a:off x="0" y="7191375"/>
            <a:ext cx="12801600" cy="0"/>
          </a:xfrm>
          <a:prstGeom prst="line">
            <a:avLst/>
          </a:prstGeom>
          <a:ln w="762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 userDrawn="1"/>
        </p:nvCxnSpPr>
        <p:spPr bwMode="auto">
          <a:xfrm>
            <a:off x="9790807" y="4763"/>
            <a:ext cx="3005434" cy="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5054214" y="6832900"/>
            <a:ext cx="2743200" cy="244341"/>
          </a:xfrm>
          <a:prstGeom prst="rect">
            <a:avLst/>
          </a:prstGeom>
        </p:spPr>
        <p:txBody>
          <a:bodyPr anchor="ctr"/>
          <a:lstStyle>
            <a:lvl1pPr algn="ctr">
              <a:defRPr sz="1200"/>
            </a:lvl1pPr>
          </a:lstStyle>
          <a:p>
            <a:fld id="{EB10617F-29CF-4C22-9ED2-E1F392C1F401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3" name="Picture 2" descr="산림청">
            <a:extLst>
              <a:ext uri="{FF2B5EF4-FFF2-40B4-BE49-F238E27FC236}">
                <a16:creationId xmlns:a16="http://schemas.microsoft.com/office/drawing/2014/main" id="{E4EF0F06-D76C-9FBA-B155-641C17DF74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880" y="6799412"/>
            <a:ext cx="758188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6D672C02-E2D9-E2CC-78AC-AA6B3AF630E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1676790" y="6824867"/>
            <a:ext cx="987114" cy="28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527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04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9" r:id="rId2"/>
    <p:sldLayoutId id="2147483670" r:id="rId3"/>
    <p:sldLayoutId id="2147483671" r:id="rId4"/>
    <p:sldLayoutId id="2147483672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5699" b="1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699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699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699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699" b="1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592447" algn="l" rtl="0" fontAlgn="base">
        <a:spcBef>
          <a:spcPct val="0"/>
        </a:spcBef>
        <a:spcAft>
          <a:spcPct val="0"/>
        </a:spcAft>
        <a:defRPr sz="2602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1184895" algn="l" rtl="0" fontAlgn="base">
        <a:spcBef>
          <a:spcPct val="0"/>
        </a:spcBef>
        <a:spcAft>
          <a:spcPct val="0"/>
        </a:spcAft>
        <a:defRPr sz="2602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777342" algn="l" rtl="0" fontAlgn="base">
        <a:spcBef>
          <a:spcPct val="0"/>
        </a:spcBef>
        <a:spcAft>
          <a:spcPct val="0"/>
        </a:spcAft>
        <a:defRPr sz="2602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2369791" algn="l" rtl="0" fontAlgn="base">
        <a:spcBef>
          <a:spcPct val="0"/>
        </a:spcBef>
        <a:spcAft>
          <a:spcPct val="0"/>
        </a:spcAft>
        <a:defRPr sz="2602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444335" indent="-44433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962727" indent="-37028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481120" indent="-29622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2073567" indent="-29622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666015" indent="-296223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858" kern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5pPr>
      <a:lvl6pPr marL="3258463" indent="-296223" algn="l" defTabSz="1184895" rtl="0" eaLnBrk="1" latinLnBrk="0" hangingPunct="1">
        <a:spcBef>
          <a:spcPct val="20000"/>
        </a:spcBef>
        <a:buFont typeface="Arial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6pPr>
      <a:lvl7pPr marL="3850910" indent="-296223" algn="l" defTabSz="1184895" rtl="0" eaLnBrk="1" latinLnBrk="0" hangingPunct="1">
        <a:spcBef>
          <a:spcPct val="20000"/>
        </a:spcBef>
        <a:buFont typeface="Arial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7pPr>
      <a:lvl8pPr marL="4443358" indent="-296223" algn="l" defTabSz="1184895" rtl="0" eaLnBrk="1" latinLnBrk="0" hangingPunct="1">
        <a:spcBef>
          <a:spcPct val="20000"/>
        </a:spcBef>
        <a:buFont typeface="Arial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8pPr>
      <a:lvl9pPr marL="5035806" indent="-296223" algn="l" defTabSz="1184895" rtl="0" eaLnBrk="1" latinLnBrk="0" hangingPunct="1">
        <a:spcBef>
          <a:spcPct val="20000"/>
        </a:spcBef>
        <a:buFont typeface="Arial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1pPr>
      <a:lvl2pPr marL="592447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2pPr>
      <a:lvl3pPr marL="1184895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3pPr>
      <a:lvl4pPr marL="1777342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4pPr>
      <a:lvl5pPr marL="2369791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5pPr>
      <a:lvl6pPr marL="2962237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6pPr>
      <a:lvl7pPr marL="3554687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7pPr>
      <a:lvl8pPr marL="4147134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8pPr>
      <a:lvl9pPr marL="4739582" algn="l" defTabSz="1184895" rtl="0" eaLnBrk="1" latinLnBrk="0" hangingPunct="1">
        <a:defRPr sz="23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/>
          <p:cNvSpPr txBox="1"/>
          <p:nvPr/>
        </p:nvSpPr>
        <p:spPr>
          <a:xfrm>
            <a:off x="1494212" y="2166642"/>
            <a:ext cx="10707210" cy="549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ko-KR" altLang="en-US" sz="2973" b="1" dirty="0">
                <a:ln>
                  <a:solidFill>
                    <a:schemeClr val="bg1">
                      <a:alpha val="10000"/>
                    </a:schemeClr>
                  </a:solidFill>
                </a:ln>
                <a:latin typeface="+mn-ea"/>
              </a:rPr>
              <a:t>산림공간 디지털 플랫폼 구축 사업</a:t>
            </a:r>
          </a:p>
        </p:txBody>
      </p:sp>
      <p:sp>
        <p:nvSpPr>
          <p:cNvPr id="9" name="TextBox 6"/>
          <p:cNvSpPr txBox="1"/>
          <p:nvPr/>
        </p:nvSpPr>
        <p:spPr>
          <a:xfrm>
            <a:off x="600174" y="2947968"/>
            <a:ext cx="11601248" cy="626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defTabSz="1223300"/>
            <a:r>
              <a:rPr lang="en-US" altLang="ko-KR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G</a:t>
            </a:r>
            <a:r>
              <a:rPr lang="ko-KR" altLang="en-US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 클라우드 네이티브 전환</a:t>
            </a:r>
            <a:r>
              <a:rPr lang="en-US" altLang="ko-KR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(</a:t>
            </a:r>
            <a:r>
              <a:rPr lang="ko-KR" altLang="en-US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이관</a:t>
            </a:r>
            <a:r>
              <a:rPr lang="en-US" altLang="ko-KR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)</a:t>
            </a:r>
            <a:r>
              <a:rPr lang="ko-KR" altLang="en-US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 로드맵</a:t>
            </a:r>
            <a:r>
              <a:rPr lang="en-US" altLang="ko-KR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(</a:t>
            </a:r>
            <a:r>
              <a:rPr lang="ko-KR" altLang="en-US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안</a:t>
            </a:r>
            <a:r>
              <a:rPr lang="en-US" altLang="ko-KR" sz="3469" b="1" dirty="0">
                <a:ln>
                  <a:solidFill>
                    <a:srgbClr val="FFFFFF">
                      <a:alpha val="10000"/>
                    </a:srgbClr>
                  </a:solidFill>
                </a:ln>
              </a:rPr>
              <a:t>)</a:t>
            </a:r>
          </a:p>
        </p:txBody>
      </p:sp>
      <p:grpSp>
        <p:nvGrpSpPr>
          <p:cNvPr id="10" name="그룹 9"/>
          <p:cNvGrpSpPr>
            <a:grpSpLocks/>
          </p:cNvGrpSpPr>
          <p:nvPr/>
        </p:nvGrpSpPr>
        <p:grpSpPr bwMode="auto">
          <a:xfrm>
            <a:off x="3902900" y="2748488"/>
            <a:ext cx="8494840" cy="209037"/>
            <a:chOff x="0" y="0"/>
            <a:chExt cx="4176166" cy="216024"/>
          </a:xfrm>
        </p:grpSpPr>
        <p:pic>
          <p:nvPicPr>
            <p:cNvPr id="11" name="Picture 33" descr="shadow"/>
            <p:cNvPicPr>
              <a:picLocks noChangeAspect="1" noChangeArrowheads="1"/>
            </p:cNvPicPr>
            <p:nvPr/>
          </p:nvPicPr>
          <p:blipFill>
            <a:blip r:embed="rId2" cstate="print">
              <a:lum bright="-40000"/>
            </a:blip>
            <a:srcRect/>
            <a:stretch>
              <a:fillRect/>
            </a:stretch>
          </p:blipFill>
          <p:spPr bwMode="auto">
            <a:xfrm rot="10800000">
              <a:off x="0" y="0"/>
              <a:ext cx="4176166" cy="2160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" name="Picture 33" descr="shadow"/>
            <p:cNvPicPr>
              <a:picLocks noChangeAspect="1" noChangeArrowheads="1"/>
            </p:cNvPicPr>
            <p:nvPr/>
          </p:nvPicPr>
          <p:blipFill>
            <a:blip r:embed="rId2" cstate="print">
              <a:lum bright="-40000"/>
            </a:blip>
            <a:srcRect/>
            <a:stretch>
              <a:fillRect/>
            </a:stretch>
          </p:blipFill>
          <p:spPr bwMode="auto">
            <a:xfrm rot="10800000">
              <a:off x="0" y="0"/>
              <a:ext cx="4176166" cy="2160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9465597" y="4573345"/>
            <a:ext cx="2735829" cy="980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18485" tIns="59243" rIns="118485" bIns="59243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r" defTabSz="1223300"/>
            <a:r>
              <a:rPr lang="en-US" altLang="ko-KR" sz="1858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/>
                </a:solidFill>
              </a:rPr>
              <a:t>2025.11.13</a:t>
            </a:r>
          </a:p>
        </p:txBody>
      </p:sp>
      <p:pic>
        <p:nvPicPr>
          <p:cNvPr id="5" name="Picture 2" descr="산림청">
            <a:extLst>
              <a:ext uri="{FF2B5EF4-FFF2-40B4-BE49-F238E27FC236}">
                <a16:creationId xmlns:a16="http://schemas.microsoft.com/office/drawing/2014/main" id="{CF5D4992-212A-261C-2499-0985DEDA9A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22" y="203567"/>
            <a:ext cx="1181100" cy="44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D9696BE-A215-948E-CB69-DF78E9DEE9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05" r="60450" b="23621"/>
          <a:stretch>
            <a:fillRect/>
          </a:stretch>
        </p:blipFill>
        <p:spPr bwMode="auto">
          <a:xfrm>
            <a:off x="10966450" y="6435869"/>
            <a:ext cx="1431290" cy="416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629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73E1D-161F-9044-2F7C-476A99AD5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E08261EB-4920-5787-C04D-DE8E6E5975AE}"/>
              </a:ext>
            </a:extLst>
          </p:cNvPr>
          <p:cNvCxnSpPr>
            <a:cxnSpLocks/>
          </p:cNvCxnSpPr>
          <p:nvPr/>
        </p:nvCxnSpPr>
        <p:spPr>
          <a:xfrm>
            <a:off x="8338021" y="1568450"/>
            <a:ext cx="0" cy="39052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672E849-1D59-CA5F-DEC9-56881FA3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10617F-29CF-4C22-9ED2-E1F392C1F40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7A157A9-CF1F-6E76-BA8E-02CAD2122C96}"/>
              </a:ext>
            </a:extLst>
          </p:cNvPr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G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클라우드 네이티브 전환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이관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로드맵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sz="2800" spc="-1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9C1236D9-C394-8A0A-3C22-ED9923CCC564}"/>
              </a:ext>
            </a:extLst>
          </p:cNvPr>
          <p:cNvSpPr/>
          <p:nvPr/>
        </p:nvSpPr>
        <p:spPr bwMode="auto">
          <a:xfrm>
            <a:off x="315791" y="1441450"/>
            <a:ext cx="12060991" cy="12700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5F729A-6E61-8C8E-3D52-429EB7ACF321}"/>
              </a:ext>
            </a:extLst>
          </p:cNvPr>
          <p:cNvSpPr txBox="1"/>
          <p:nvPr/>
        </p:nvSpPr>
        <p:spPr>
          <a:xfrm>
            <a:off x="11827122" y="158115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준공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6DABAC-4A70-5DAC-E9FD-979D9D55CF18}"/>
              </a:ext>
            </a:extLst>
          </p:cNvPr>
          <p:cNvSpPr txBox="1"/>
          <p:nvPr/>
        </p:nvSpPr>
        <p:spPr>
          <a:xfrm>
            <a:off x="1738150" y="1164451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2025</a:t>
            </a:r>
            <a:r>
              <a:rPr lang="ko-KR" altLang="en-US" sz="1200" dirty="0"/>
              <a:t>년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DB2120D-BF48-E262-B68E-E844B96C9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22" y="2315704"/>
            <a:ext cx="3306757" cy="20264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2C12FB9-D515-9724-8A74-B3D62DDC0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568" y="2362038"/>
            <a:ext cx="4148078" cy="19801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59F9530-808F-A9B6-30C2-D77DD4B4C1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6871" y="2362038"/>
            <a:ext cx="4148078" cy="19801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39F907-2C28-D63D-1796-07BC7A7A0E4C}"/>
              </a:ext>
            </a:extLst>
          </p:cNvPr>
          <p:cNvSpPr txBox="1"/>
          <p:nvPr/>
        </p:nvSpPr>
        <p:spPr>
          <a:xfrm>
            <a:off x="11326024" y="1164451"/>
            <a:ext cx="10021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</a:t>
            </a:r>
            <a:r>
              <a:rPr lang="ko-KR" altLang="en-US" sz="1200" dirty="0"/>
              <a:t>년</a:t>
            </a:r>
            <a:r>
              <a:rPr lang="en-US" altLang="ko-KR" sz="1200" dirty="0"/>
              <a:t>12</a:t>
            </a:r>
            <a:r>
              <a:rPr lang="ko-KR" altLang="en-US" sz="1200" dirty="0"/>
              <a:t>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888C68-4F50-BA04-0042-B65C8F93DFFB}"/>
              </a:ext>
            </a:extLst>
          </p:cNvPr>
          <p:cNvSpPr txBox="1"/>
          <p:nvPr/>
        </p:nvSpPr>
        <p:spPr>
          <a:xfrm>
            <a:off x="1831123" y="1581150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현재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227A03-9733-6F29-7145-DFDDE5EC4B98}"/>
              </a:ext>
            </a:extLst>
          </p:cNvPr>
          <p:cNvSpPr txBox="1"/>
          <p:nvPr/>
        </p:nvSpPr>
        <p:spPr>
          <a:xfrm>
            <a:off x="320622" y="4492564"/>
            <a:ext cx="1893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합사</a:t>
            </a:r>
            <a:r>
              <a:rPr lang="ko-KR" altLang="en-US" sz="1400" dirty="0"/>
              <a:t> 개발환경</a:t>
            </a:r>
            <a:endParaRPr lang="en-US" altLang="ko-KR" sz="1400" dirty="0"/>
          </a:p>
          <a:p>
            <a:r>
              <a:rPr lang="en-US" altLang="ko-KR" sz="1400" dirty="0"/>
              <a:t>- PaaS(K8S)</a:t>
            </a:r>
            <a:r>
              <a:rPr lang="ko-KR" altLang="en-US" sz="1400" dirty="0"/>
              <a:t> 자체구축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156D40C-441B-7D2D-B5E0-C2D20F3C6BA0}"/>
              </a:ext>
            </a:extLst>
          </p:cNvPr>
          <p:cNvSpPr txBox="1"/>
          <p:nvPr/>
        </p:nvSpPr>
        <p:spPr>
          <a:xfrm>
            <a:off x="4392013" y="4492564"/>
            <a:ext cx="2457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국자원</a:t>
            </a:r>
            <a:r>
              <a:rPr lang="ko-KR" altLang="en-US" sz="1400" dirty="0"/>
              <a:t> 광주센터</a:t>
            </a:r>
            <a:r>
              <a:rPr lang="en-US" altLang="ko-KR" sz="1400" dirty="0"/>
              <a:t>(G</a:t>
            </a:r>
            <a:r>
              <a:rPr lang="ko-KR" altLang="en-US" sz="1400" dirty="0"/>
              <a:t>클라우드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VM</a:t>
            </a:r>
            <a:r>
              <a:rPr lang="ko-KR" altLang="en-US" sz="1400" dirty="0"/>
              <a:t>에서 서비스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8C43C1-2F0C-C2FB-566B-43A2CCECCDC4}"/>
              </a:ext>
            </a:extLst>
          </p:cNvPr>
          <p:cNvSpPr txBox="1"/>
          <p:nvPr/>
        </p:nvSpPr>
        <p:spPr>
          <a:xfrm>
            <a:off x="8766817" y="4492564"/>
            <a:ext cx="24577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/>
              <a:t>국자원</a:t>
            </a:r>
            <a:r>
              <a:rPr lang="ko-KR" altLang="en-US" sz="1400" dirty="0"/>
              <a:t> 광주센터</a:t>
            </a:r>
            <a:r>
              <a:rPr lang="en-US" altLang="ko-KR" sz="1400" dirty="0"/>
              <a:t>(G</a:t>
            </a:r>
            <a:r>
              <a:rPr lang="ko-KR" altLang="en-US" sz="1400" dirty="0"/>
              <a:t>클라우드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- PaaS</a:t>
            </a:r>
            <a:r>
              <a:rPr lang="ko-KR" altLang="en-US" sz="1400" dirty="0"/>
              <a:t>는 </a:t>
            </a:r>
            <a:r>
              <a:rPr lang="ko-KR" altLang="en-US" sz="1400" dirty="0" err="1"/>
              <a:t>국자원</a:t>
            </a:r>
            <a:r>
              <a:rPr lang="ko-KR" altLang="en-US" sz="1400" dirty="0"/>
              <a:t> 제공예정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CFFEFCE-4B94-118A-A189-AF322BA2D074}"/>
              </a:ext>
            </a:extLst>
          </p:cNvPr>
          <p:cNvSpPr/>
          <p:nvPr/>
        </p:nvSpPr>
        <p:spPr bwMode="auto">
          <a:xfrm>
            <a:off x="8782478" y="3248005"/>
            <a:ext cx="2297478" cy="35244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4F830A6-2918-A199-13CD-DDB2B5D822A1}"/>
              </a:ext>
            </a:extLst>
          </p:cNvPr>
          <p:cNvSpPr/>
          <p:nvPr/>
        </p:nvSpPr>
        <p:spPr bwMode="auto">
          <a:xfrm>
            <a:off x="4368905" y="3426618"/>
            <a:ext cx="2297478" cy="581622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1349914-95DB-9637-B8D0-3E00EAC19797}"/>
              </a:ext>
            </a:extLst>
          </p:cNvPr>
          <p:cNvSpPr/>
          <p:nvPr/>
        </p:nvSpPr>
        <p:spPr bwMode="auto">
          <a:xfrm>
            <a:off x="315791" y="3109292"/>
            <a:ext cx="2454071" cy="416699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F484DB3-7827-34FC-DC43-9E813BD57BEB}"/>
              </a:ext>
            </a:extLst>
          </p:cNvPr>
          <p:cNvCxnSpPr>
            <a:cxnSpLocks/>
          </p:cNvCxnSpPr>
          <p:nvPr/>
        </p:nvCxnSpPr>
        <p:spPr>
          <a:xfrm>
            <a:off x="8338021" y="1308100"/>
            <a:ext cx="0" cy="55004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2CF81D4-267C-75B7-6735-62279FF24488}"/>
              </a:ext>
            </a:extLst>
          </p:cNvPr>
          <p:cNvSpPr txBox="1"/>
          <p:nvPr/>
        </p:nvSpPr>
        <p:spPr>
          <a:xfrm>
            <a:off x="6945367" y="904101"/>
            <a:ext cx="26912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</a:t>
            </a:r>
            <a:r>
              <a:rPr lang="ko-KR" altLang="en-US" sz="1200" dirty="0"/>
              <a:t>년 </a:t>
            </a:r>
            <a:r>
              <a:rPr lang="en-US" altLang="ko-KR" sz="1200" dirty="0"/>
              <a:t>8</a:t>
            </a:r>
            <a:r>
              <a:rPr lang="ko-KR" altLang="en-US" sz="1200" dirty="0"/>
              <a:t>월 </a:t>
            </a:r>
            <a:r>
              <a:rPr lang="en-US" altLang="ko-KR" sz="1200" dirty="0"/>
              <a:t>PaaS(POD(</a:t>
            </a:r>
            <a:r>
              <a:rPr lang="ko-KR" altLang="en-US" sz="1200" dirty="0"/>
              <a:t>미정</a:t>
            </a:r>
            <a:r>
              <a:rPr lang="en-US" altLang="ko-KR" sz="1200" dirty="0"/>
              <a:t>))_</a:t>
            </a:r>
            <a:r>
              <a:rPr lang="ko-KR" altLang="en-US" sz="1200" dirty="0" err="1"/>
              <a:t>국자원</a:t>
            </a:r>
            <a:endParaRPr lang="ko-KR" altLang="en-US" sz="12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552BC02-7698-ABAE-7521-F84DB97131EA}"/>
              </a:ext>
            </a:extLst>
          </p:cNvPr>
          <p:cNvCxnSpPr>
            <a:cxnSpLocks/>
          </p:cNvCxnSpPr>
          <p:nvPr/>
        </p:nvCxnSpPr>
        <p:spPr>
          <a:xfrm>
            <a:off x="3897907" y="1568450"/>
            <a:ext cx="0" cy="39052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1CD6BEC-4456-AB43-E905-2DC8130CD171}"/>
              </a:ext>
            </a:extLst>
          </p:cNvPr>
          <p:cNvSpPr txBox="1"/>
          <p:nvPr/>
        </p:nvSpPr>
        <p:spPr>
          <a:xfrm>
            <a:off x="7761414" y="2663230"/>
            <a:ext cx="100540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</a:rPr>
              <a:t>전환</a:t>
            </a: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DEE991AE-1E36-AD4F-E532-7A5E97D37289}"/>
              </a:ext>
            </a:extLst>
          </p:cNvPr>
          <p:cNvSpPr/>
          <p:nvPr/>
        </p:nvSpPr>
        <p:spPr bwMode="auto">
          <a:xfrm>
            <a:off x="3715742" y="3300789"/>
            <a:ext cx="364331" cy="444124"/>
          </a:xfrm>
          <a:prstGeom prst="rightArrow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97071026-1279-80DB-162E-FAAE7F633199}"/>
              </a:ext>
            </a:extLst>
          </p:cNvPr>
          <p:cNvSpPr/>
          <p:nvPr/>
        </p:nvSpPr>
        <p:spPr bwMode="auto">
          <a:xfrm>
            <a:off x="7947088" y="3300789"/>
            <a:ext cx="674748" cy="444124"/>
          </a:xfrm>
          <a:prstGeom prst="rightArrow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FF0BA4-B4FE-3095-4705-F920F2BBDC72}"/>
              </a:ext>
            </a:extLst>
          </p:cNvPr>
          <p:cNvSpPr txBox="1"/>
          <p:nvPr/>
        </p:nvSpPr>
        <p:spPr>
          <a:xfrm>
            <a:off x="3349276" y="2663230"/>
            <a:ext cx="1005403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</a:rPr>
              <a:t>이관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CEBB02-7137-F1A8-60D3-783436CD3E55}"/>
              </a:ext>
            </a:extLst>
          </p:cNvPr>
          <p:cNvSpPr txBox="1"/>
          <p:nvPr/>
        </p:nvSpPr>
        <p:spPr>
          <a:xfrm>
            <a:off x="3558711" y="1164451"/>
            <a:ext cx="6783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</a:t>
            </a:r>
            <a:r>
              <a:rPr lang="ko-KR" altLang="en-US" sz="1200" dirty="0"/>
              <a:t>년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5430A86D-0D4C-8ACB-4988-27E76F99295B}"/>
              </a:ext>
            </a:extLst>
          </p:cNvPr>
          <p:cNvGrpSpPr/>
          <p:nvPr/>
        </p:nvGrpSpPr>
        <p:grpSpPr>
          <a:xfrm>
            <a:off x="539836" y="5227380"/>
            <a:ext cx="11836945" cy="1490920"/>
            <a:chOff x="3501252" y="4800666"/>
            <a:chExt cx="2520243" cy="809069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6889406-2370-8103-A2F8-DEA21F6E0295}"/>
                </a:ext>
              </a:extLst>
            </p:cNvPr>
            <p:cNvSpPr/>
            <p:nvPr/>
          </p:nvSpPr>
          <p:spPr>
            <a:xfrm>
              <a:off x="3501252" y="5001269"/>
              <a:ext cx="2520243" cy="608466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1200" cap="none" spc="0" normalizeH="0" baseline="0" noProof="0">
                <a:ln w="15875">
                  <a:solidFill>
                    <a:srgbClr val="EAEAEA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Medium" panose="02000000000000000000" pitchFamily="2" charset="-127"/>
                <a:ea typeface="G마켓 산스 TTF Medium" panose="02000000000000000000" pitchFamily="2" charset="-127"/>
                <a:cs typeface="+mn-cs"/>
              </a:endParaRPr>
            </a:p>
          </p:txBody>
        </p:sp>
        <p:sp>
          <p:nvSpPr>
            <p:cNvPr id="10" name="양쪽 모서리가 둥근 사각형 261">
              <a:extLst>
                <a:ext uri="{FF2B5EF4-FFF2-40B4-BE49-F238E27FC236}">
                  <a16:creationId xmlns:a16="http://schemas.microsoft.com/office/drawing/2014/main" id="{F979773E-144A-51AD-FE8C-A5C86031995F}"/>
                </a:ext>
              </a:extLst>
            </p:cNvPr>
            <p:cNvSpPr/>
            <p:nvPr/>
          </p:nvSpPr>
          <p:spPr>
            <a:xfrm>
              <a:off x="3501254" y="4800666"/>
              <a:ext cx="2520241" cy="204003"/>
            </a:xfrm>
            <a:prstGeom prst="round2SameRect">
              <a:avLst/>
            </a:prstGeom>
            <a:solidFill>
              <a:srgbClr val="6B81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1800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6"/>
                </a:spcAft>
                <a:buClr>
                  <a:srgbClr val="0070C0"/>
                </a:buClr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플랫폼 개발 운영 절차</a:t>
              </a:r>
              <a:r>
                <a:rPr kumimoji="0" lang="en-US" altLang="ko-KR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(</a:t>
              </a:r>
              <a:r>
                <a:rPr kumimoji="0" lang="ko-KR" altLang="en-US" sz="1800" b="0" i="0" u="none" strike="noStrike" kern="1200" cap="none" spc="-41" normalizeH="0" baseline="0" noProof="0" dirty="0" err="1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국자원</a:t>
              </a:r>
              <a:r>
                <a:rPr kumimoji="0" lang="ko-KR" altLang="en-US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 </a:t>
              </a:r>
              <a:r>
                <a:rPr kumimoji="0" lang="ko-KR" altLang="en-US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이관</a:t>
              </a:r>
              <a:r>
                <a:rPr kumimoji="0" lang="ko-KR" altLang="en-US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 </a:t>
              </a:r>
              <a:r>
                <a:rPr kumimoji="0" lang="en-US" altLang="ko-KR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&amp; </a:t>
              </a:r>
              <a:r>
                <a:rPr kumimoji="0" lang="ko-KR" altLang="en-US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네이티브 클라우드 </a:t>
              </a:r>
              <a:r>
                <a:rPr kumimoji="0" lang="ko-KR" altLang="en-US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srgbClr val="FF0000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전환</a:t>
              </a:r>
              <a:r>
                <a:rPr kumimoji="0" lang="en-US" altLang="ko-KR" sz="1800" b="0" i="0" u="none" strike="noStrike" kern="1200" cap="none" spc="-41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G마켓 산스 TTF Bold" panose="02000000000000000000" pitchFamily="2" charset="-127"/>
                  <a:ea typeface="G마켓 산스 TTF Bold" panose="02000000000000000000" pitchFamily="2" charset="-127"/>
                  <a:cs typeface="+mn-cs"/>
                </a:rPr>
                <a:t>)</a:t>
              </a:r>
              <a:endParaRPr kumimoji="0" lang="ko-KR" altLang="en-US" sz="1800" b="0" i="0" u="none" strike="noStrike" kern="1200" cap="none" spc="-41" normalizeH="0" baseline="0" noProof="0" dirty="0">
                <a:ln w="15875">
                  <a:solidFill>
                    <a:srgbClr val="EAEAEA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G마켓 산스 TTF Bold" panose="02000000000000000000" pitchFamily="2" charset="-127"/>
                <a:ea typeface="G마켓 산스 TTF Bold" panose="02000000000000000000" pitchFamily="2" charset="-127"/>
                <a:cs typeface="+mn-cs"/>
              </a:endParaRPr>
            </a:p>
          </p:txBody>
        </p:sp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33661E0C-6E4C-A536-574E-1B891A52044C}"/>
                </a:ext>
              </a:extLst>
            </p:cNvPr>
            <p:cNvGrpSpPr/>
            <p:nvPr/>
          </p:nvGrpSpPr>
          <p:grpSpPr>
            <a:xfrm>
              <a:off x="3535853" y="5034214"/>
              <a:ext cx="2451041" cy="542576"/>
              <a:chOff x="8878474" y="4770656"/>
              <a:chExt cx="2218855" cy="501051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21738BFD-3250-913F-0ABC-7B5D046C0B3F}"/>
                  </a:ext>
                </a:extLst>
              </p:cNvPr>
              <p:cNvSpPr/>
              <p:nvPr/>
            </p:nvSpPr>
            <p:spPr>
              <a:xfrm>
                <a:off x="8878474" y="4770656"/>
                <a:ext cx="605101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1" i="0" u="none" strike="noStrike" kern="1200" cap="none" spc="-45" normalizeH="0" baseline="0" noProof="0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rPr>
                  <a:t>Dev_</a:t>
                </a:r>
                <a:r>
                  <a:rPr kumimoji="0" lang="ko-KR" altLang="en-US" sz="1400" b="1" i="0" u="none" strike="noStrike" kern="1200" cap="none" spc="-45" normalizeH="0" baseline="0" noProof="0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rPr>
                  <a:t>서비스 </a:t>
                </a:r>
                <a:r>
                  <a:rPr kumimoji="0" lang="en-US" altLang="ko-KR" sz="1400" b="1" i="0" u="none" strike="noStrike" kern="1200" cap="none" spc="-45" normalizeH="0" baseline="0" noProof="0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rPr>
                  <a:t>+ Ops </a:t>
                </a:r>
                <a:r>
                  <a:rPr kumimoji="0" lang="ko-KR" altLang="en-US" sz="1400" b="1" i="0" u="none" strike="noStrike" kern="1200" cap="none" spc="-45" normalizeH="0" baseline="0" noProof="0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rPr>
                  <a:t>서비스</a:t>
                </a:r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F14FECCB-B502-1BED-2B24-209763D07036}"/>
                  </a:ext>
                </a:extLst>
              </p:cNvPr>
              <p:cNvSpPr/>
              <p:nvPr/>
            </p:nvSpPr>
            <p:spPr>
              <a:xfrm>
                <a:off x="9506036" y="4770656"/>
                <a:ext cx="835307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>
                  <a:defRPr/>
                </a:pPr>
                <a:r>
                  <a:rPr lang="en-US" altLang="ko-KR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Dev_</a:t>
                </a:r>
                <a:r>
                  <a:rPr lang="ko-KR" altLang="en-US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서비스 </a:t>
                </a:r>
                <a:r>
                  <a:rPr lang="en-US" altLang="ko-KR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+ Ops </a:t>
                </a:r>
                <a:r>
                  <a:rPr lang="ko-KR" altLang="en-US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서비스</a:t>
                </a:r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7B113A75-2BA6-24A5-88A8-B9A453037804}"/>
                  </a:ext>
                </a:extLst>
              </p:cNvPr>
              <p:cNvSpPr/>
              <p:nvPr/>
            </p:nvSpPr>
            <p:spPr>
              <a:xfrm>
                <a:off x="10363804" y="4770656"/>
                <a:ext cx="733525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lvl="0" algn="ctr" defTabSz="914400">
                  <a:defRPr/>
                </a:pPr>
                <a:r>
                  <a:rPr lang="en-US" altLang="ko-KR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Dev_</a:t>
                </a:r>
                <a:r>
                  <a:rPr lang="ko-KR" altLang="en-US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서비스 </a:t>
                </a:r>
                <a:r>
                  <a:rPr lang="en-US" altLang="ko-KR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+ Ops </a:t>
                </a:r>
                <a:r>
                  <a:rPr lang="ko-KR" altLang="en-US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서비스</a:t>
                </a: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37672000-5C24-8412-37B7-8E9EF7C3BEEB}"/>
                  </a:ext>
                </a:extLst>
              </p:cNvPr>
              <p:cNvSpPr/>
              <p:nvPr/>
            </p:nvSpPr>
            <p:spPr>
              <a:xfrm>
                <a:off x="8878474" y="4945581"/>
                <a:ext cx="605101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1" i="0" u="none" strike="noStrike" kern="1200" cap="none" spc="-45" normalizeH="0" baseline="0" noProof="0" dirty="0" err="1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rPr>
                  <a:t>쿠버네티스</a:t>
                </a:r>
                <a:endParaRPr kumimoji="0" lang="ko-KR" altLang="en-US" sz="1400" b="1" i="0" u="none" strike="noStrike" kern="1200" cap="none" spc="-45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A205CDC4-2241-B110-3D0A-D207AECACDA9}"/>
                  </a:ext>
                </a:extLst>
              </p:cNvPr>
              <p:cNvSpPr/>
              <p:nvPr/>
            </p:nvSpPr>
            <p:spPr>
              <a:xfrm>
                <a:off x="9506036" y="4945581"/>
                <a:ext cx="835307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1" i="0" u="none" strike="noStrike" kern="1200" cap="none" spc="-45" normalizeH="0" baseline="0" noProof="0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rPr>
                  <a:t>X</a:t>
                </a:r>
                <a:endParaRPr kumimoji="0" lang="ko-KR" altLang="en-US" sz="1400" b="1" i="0" u="none" strike="noStrike" kern="1200" cap="none" spc="-45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101D2822-E63E-7163-5AB7-60C9EF4787E6}"/>
                  </a:ext>
                </a:extLst>
              </p:cNvPr>
              <p:cNvSpPr/>
              <p:nvPr/>
            </p:nvSpPr>
            <p:spPr>
              <a:xfrm>
                <a:off x="10363804" y="4945581"/>
                <a:ext cx="733525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1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400" b="1" spc="-45" dirty="0" err="1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오픈시프트</a:t>
                </a:r>
                <a:endParaRPr kumimoji="0" lang="ko-KR" altLang="en-US" sz="1400" b="1" i="0" u="none" strike="noStrike" kern="1200" cap="none" spc="-45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0860950B-5751-7558-35D5-6A3D83920530}"/>
                  </a:ext>
                </a:extLst>
              </p:cNvPr>
              <p:cNvSpPr/>
              <p:nvPr/>
            </p:nvSpPr>
            <p:spPr>
              <a:xfrm>
                <a:off x="8878474" y="5120507"/>
                <a:ext cx="605101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400" b="1" i="0" u="none" strike="noStrike" kern="1200" cap="none" spc="-45" normalizeH="0" baseline="0" noProof="0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KoPub돋움체 Medium" panose="02020603020101020101" pitchFamily="18" charset="-127"/>
                    <a:ea typeface="KoPub돋움체 Medium" panose="02020603020101020101" pitchFamily="18" charset="-127"/>
                    <a:cs typeface="+mn-cs"/>
                  </a:rPr>
                  <a:t>물리서버</a:t>
                </a:r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C32C5706-15B4-5271-EDB9-56AFAB10DD4E}"/>
                  </a:ext>
                </a:extLst>
              </p:cNvPr>
              <p:cNvSpPr/>
              <p:nvPr/>
            </p:nvSpPr>
            <p:spPr>
              <a:xfrm>
                <a:off x="9506036" y="5120507"/>
                <a:ext cx="835307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가상서버</a:t>
                </a:r>
                <a:r>
                  <a:rPr lang="en-US" altLang="ko-KR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(VM)</a:t>
                </a:r>
                <a:endParaRPr kumimoji="0" lang="ko-KR" altLang="en-US" sz="1400" b="1" i="0" u="none" strike="noStrike" kern="1200" cap="none" spc="-45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1C7E13DC-E622-8C99-E752-4F21B7250B1D}"/>
                  </a:ext>
                </a:extLst>
              </p:cNvPr>
              <p:cNvSpPr/>
              <p:nvPr/>
            </p:nvSpPr>
            <p:spPr>
              <a:xfrm>
                <a:off x="10363804" y="5120507"/>
                <a:ext cx="733525" cy="151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marL="0" marR="0" lvl="1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ko-KR" altLang="en-US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컨테이너</a:t>
                </a:r>
                <a:r>
                  <a:rPr lang="en-US" altLang="ko-KR" sz="1400" b="1" spc="-45" dirty="0">
                    <a:ln w="15875">
                      <a:solidFill>
                        <a:srgbClr val="EAEAEA">
                          <a:alpha val="0"/>
                        </a:srgbClr>
                      </a:solidFill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latin typeface="KoPub돋움체 Medium" panose="02020603020101020101" pitchFamily="18" charset="-127"/>
                    <a:ea typeface="KoPub돋움체 Medium" panose="02020603020101020101" pitchFamily="18" charset="-127"/>
                  </a:rPr>
                  <a:t>+Pod</a:t>
                </a:r>
                <a:endParaRPr kumimoji="0" lang="ko-KR" altLang="en-US" sz="1400" b="1" i="0" u="none" strike="noStrike" kern="1200" cap="none" spc="-45" normalizeH="0" baseline="0" noProof="0" dirty="0">
                  <a:ln w="15875">
                    <a:solidFill>
                      <a:srgbClr val="EAEAEA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Medium" panose="02020603020101020101" pitchFamily="18" charset="-127"/>
                  <a:ea typeface="KoPub돋움체 Medium" panose="02020603020101020101" pitchFamily="18" charset="-127"/>
                  <a:cs typeface="+mn-cs"/>
                </a:endParaRPr>
              </a:p>
            </p:txBody>
          </p:sp>
        </p:grp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FEDF0075-7A09-392F-BE9D-610A5F4E3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0484" y="4858358"/>
            <a:ext cx="792965" cy="30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penShift에 대한 심층 분석">
            <a:extLst>
              <a:ext uri="{FF2B5EF4-FFF2-40B4-BE49-F238E27FC236}">
                <a16:creationId xmlns:a16="http://schemas.microsoft.com/office/drawing/2014/main" id="{5FDC581E-CC7B-86BF-0593-E5A3C5B953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6024" y="5944698"/>
            <a:ext cx="851886" cy="425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group Driver 선택하기 - tech.kakao.com">
            <a:extLst>
              <a:ext uri="{FF2B5EF4-FFF2-40B4-BE49-F238E27FC236}">
                <a16:creationId xmlns:a16="http://schemas.microsoft.com/office/drawing/2014/main" id="{658459F1-1CB2-4CF4-8747-3DF544FB45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36" t="31203" r="19615" b="33300"/>
          <a:stretch>
            <a:fillRect/>
          </a:stretch>
        </p:blipFill>
        <p:spPr bwMode="auto">
          <a:xfrm>
            <a:off x="2723968" y="6058593"/>
            <a:ext cx="834743" cy="204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화살표: 오른쪽 208">
            <a:extLst>
              <a:ext uri="{FF2B5EF4-FFF2-40B4-BE49-F238E27FC236}">
                <a16:creationId xmlns:a16="http://schemas.microsoft.com/office/drawing/2014/main" id="{2B6A0286-F904-B889-4FAF-A4FA68F87ADF}"/>
              </a:ext>
            </a:extLst>
          </p:cNvPr>
          <p:cNvSpPr/>
          <p:nvPr/>
        </p:nvSpPr>
        <p:spPr>
          <a:xfrm>
            <a:off x="3638658" y="6384061"/>
            <a:ext cx="526942" cy="201209"/>
          </a:xfrm>
          <a:prstGeom prst="rightArrow">
            <a:avLst>
              <a:gd name="adj1" fmla="val 62810"/>
              <a:gd name="adj2" fmla="val 58276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31000">
                <a:schemeClr val="bg1"/>
              </a:gs>
            </a:gsLst>
            <a:lin ang="10800000" scaled="1"/>
            <a:tileRect/>
          </a:gradFill>
          <a:ln w="15875">
            <a:solidFill>
              <a:schemeClr val="bg1"/>
            </a:solidFill>
          </a:ln>
          <a:effectLst>
            <a:outerShdw blurRad="127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 err="1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43" name="화살표: 오른쪽 208">
            <a:extLst>
              <a:ext uri="{FF2B5EF4-FFF2-40B4-BE49-F238E27FC236}">
                <a16:creationId xmlns:a16="http://schemas.microsoft.com/office/drawing/2014/main" id="{3BCA8257-D86C-4090-BB11-73B0E3C93E18}"/>
              </a:ext>
            </a:extLst>
          </p:cNvPr>
          <p:cNvSpPr/>
          <p:nvPr/>
        </p:nvSpPr>
        <p:spPr>
          <a:xfrm>
            <a:off x="3638658" y="6034719"/>
            <a:ext cx="526942" cy="201209"/>
          </a:xfrm>
          <a:prstGeom prst="rightArrow">
            <a:avLst>
              <a:gd name="adj1" fmla="val 62810"/>
              <a:gd name="adj2" fmla="val 58276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31000">
                <a:schemeClr val="bg1"/>
              </a:gs>
            </a:gsLst>
            <a:lin ang="10800000" scaled="1"/>
            <a:tileRect/>
          </a:gradFill>
          <a:ln w="15875">
            <a:solidFill>
              <a:schemeClr val="bg1"/>
            </a:solidFill>
          </a:ln>
          <a:effectLst>
            <a:outerShdw blurRad="127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 err="1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44" name="화살표: 오른쪽 208">
            <a:extLst>
              <a:ext uri="{FF2B5EF4-FFF2-40B4-BE49-F238E27FC236}">
                <a16:creationId xmlns:a16="http://schemas.microsoft.com/office/drawing/2014/main" id="{29A62765-F858-246F-4475-FA4248A01E70}"/>
              </a:ext>
            </a:extLst>
          </p:cNvPr>
          <p:cNvSpPr/>
          <p:nvPr/>
        </p:nvSpPr>
        <p:spPr>
          <a:xfrm>
            <a:off x="3638658" y="5685377"/>
            <a:ext cx="526942" cy="201209"/>
          </a:xfrm>
          <a:prstGeom prst="rightArrow">
            <a:avLst>
              <a:gd name="adj1" fmla="val 62810"/>
              <a:gd name="adj2" fmla="val 58276"/>
            </a:avLst>
          </a:prstGeom>
          <a:gradFill flip="none" rotWithShape="1">
            <a:gsLst>
              <a:gs pos="100000">
                <a:schemeClr val="bg1">
                  <a:alpha val="0"/>
                </a:schemeClr>
              </a:gs>
              <a:gs pos="31000">
                <a:schemeClr val="bg1"/>
              </a:gs>
            </a:gsLst>
            <a:lin ang="10800000" scaled="1"/>
            <a:tileRect/>
          </a:gradFill>
          <a:ln w="15875">
            <a:solidFill>
              <a:schemeClr val="bg1"/>
            </a:solidFill>
          </a:ln>
          <a:effectLst>
            <a:outerShdw blurRad="12700" dist="254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1200" cap="none" spc="0" normalizeH="0" baseline="0" noProof="0" dirty="0" err="1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Bold" panose="02020603020101020101" pitchFamily="18" charset="-127"/>
              <a:ea typeface="KoPub돋움체 Bold" panose="02020603020101020101" pitchFamily="18" charset="-127"/>
              <a:cs typeface="+mn-cs"/>
            </a:endParaRPr>
          </a:p>
        </p:txBody>
      </p:sp>
      <p:sp>
        <p:nvSpPr>
          <p:cNvPr id="45" name="화살표: 오른쪽 44">
            <a:extLst>
              <a:ext uri="{FF2B5EF4-FFF2-40B4-BE49-F238E27FC236}">
                <a16:creationId xmlns:a16="http://schemas.microsoft.com/office/drawing/2014/main" id="{F0B2E04B-C715-7F43-74C2-AD03B2A79D6E}"/>
              </a:ext>
            </a:extLst>
          </p:cNvPr>
          <p:cNvSpPr/>
          <p:nvPr/>
        </p:nvSpPr>
        <p:spPr>
          <a:xfrm>
            <a:off x="8117289" y="6338735"/>
            <a:ext cx="526942" cy="273280"/>
          </a:xfrm>
          <a:prstGeom prst="rightArrow">
            <a:avLst>
              <a:gd name="adj1" fmla="val 50000"/>
              <a:gd name="adj2" fmla="val 71425"/>
            </a:avLst>
          </a:prstGeom>
          <a:solidFill>
            <a:srgbClr val="5C7292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ln>
                <a:solidFill>
                  <a:srgbClr val="DA4632">
                    <a:alpha val="0"/>
                  </a:srgbClr>
                </a:solidFill>
              </a:ln>
              <a:solidFill>
                <a:schemeClr val="tx1"/>
              </a:solidFill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46" name="화살표: 오른쪽 45">
            <a:extLst>
              <a:ext uri="{FF2B5EF4-FFF2-40B4-BE49-F238E27FC236}">
                <a16:creationId xmlns:a16="http://schemas.microsoft.com/office/drawing/2014/main" id="{65F9B450-B53E-ACE4-8D1F-42E1C172E061}"/>
              </a:ext>
            </a:extLst>
          </p:cNvPr>
          <p:cNvSpPr/>
          <p:nvPr/>
        </p:nvSpPr>
        <p:spPr>
          <a:xfrm>
            <a:off x="8117289" y="6041783"/>
            <a:ext cx="526942" cy="273280"/>
          </a:xfrm>
          <a:prstGeom prst="rightArrow">
            <a:avLst>
              <a:gd name="adj1" fmla="val 50000"/>
              <a:gd name="adj2" fmla="val 71425"/>
            </a:avLst>
          </a:prstGeom>
          <a:solidFill>
            <a:srgbClr val="5C7292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ln>
                <a:solidFill>
                  <a:srgbClr val="DA4632">
                    <a:alpha val="0"/>
                  </a:srgbClr>
                </a:solidFill>
              </a:ln>
              <a:solidFill>
                <a:schemeClr val="tx1"/>
              </a:solidFill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  <p:sp>
        <p:nvSpPr>
          <p:cNvPr id="47" name="화살표: 오른쪽 46">
            <a:extLst>
              <a:ext uri="{FF2B5EF4-FFF2-40B4-BE49-F238E27FC236}">
                <a16:creationId xmlns:a16="http://schemas.microsoft.com/office/drawing/2014/main" id="{DC7C7DAC-8170-62B7-9622-50C8DB5A0DF3}"/>
              </a:ext>
            </a:extLst>
          </p:cNvPr>
          <p:cNvSpPr/>
          <p:nvPr/>
        </p:nvSpPr>
        <p:spPr>
          <a:xfrm>
            <a:off x="8117289" y="5678265"/>
            <a:ext cx="526942" cy="273280"/>
          </a:xfrm>
          <a:prstGeom prst="rightArrow">
            <a:avLst>
              <a:gd name="adj1" fmla="val 50000"/>
              <a:gd name="adj2" fmla="val 71425"/>
            </a:avLst>
          </a:prstGeom>
          <a:solidFill>
            <a:srgbClr val="5C7292"/>
          </a:solidFill>
          <a:ln>
            <a:solidFill>
              <a:srgbClr val="F0F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dirty="0">
              <a:ln>
                <a:solidFill>
                  <a:srgbClr val="DA4632">
                    <a:alpha val="0"/>
                  </a:srgbClr>
                </a:solidFill>
              </a:ln>
              <a:solidFill>
                <a:schemeClr val="tx1"/>
              </a:solidFill>
              <a:latin typeface="HG꼬딕씨 80g" panose="02020603020101020101" pitchFamily="18" charset="-127"/>
              <a:ea typeface="HG꼬딕씨 8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919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8A0F-86F9-645B-842E-E470B5556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AE98207-B92F-3C61-1178-A3A10DB3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054214" y="6867422"/>
            <a:ext cx="2743200" cy="244341"/>
          </a:xfrm>
        </p:spPr>
        <p:txBody>
          <a:bodyPr/>
          <a:lstStyle/>
          <a:p>
            <a:fld id="{EB10617F-29CF-4C22-9ED2-E1F392C1F401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75F9F3B2-193D-906F-658B-641D9BFCC914}"/>
              </a:ext>
            </a:extLst>
          </p:cNvPr>
          <p:cNvSpPr/>
          <p:nvPr/>
        </p:nvSpPr>
        <p:spPr bwMode="auto">
          <a:xfrm>
            <a:off x="2478642" y="1303585"/>
            <a:ext cx="9911213" cy="112426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CD1BC-FB17-81A7-3851-9DD109C975D7}"/>
              </a:ext>
            </a:extLst>
          </p:cNvPr>
          <p:cNvSpPr txBox="1"/>
          <p:nvPr/>
        </p:nvSpPr>
        <p:spPr>
          <a:xfrm>
            <a:off x="11870092" y="1427253"/>
            <a:ext cx="566209" cy="245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준공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D5303D-16B9-5E8A-1241-35B5675EDD6F}"/>
              </a:ext>
            </a:extLst>
          </p:cNvPr>
          <p:cNvSpPr txBox="1"/>
          <p:nvPr/>
        </p:nvSpPr>
        <p:spPr>
          <a:xfrm>
            <a:off x="3047875" y="1058374"/>
            <a:ext cx="780011" cy="245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/>
              <a:t>2025</a:t>
            </a:r>
            <a:r>
              <a:rPr lang="ko-KR" altLang="en-US" sz="1200" dirty="0"/>
              <a:t>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ED53F1-48AD-B6EB-2C3C-7BA9EA27456C}"/>
              </a:ext>
            </a:extLst>
          </p:cNvPr>
          <p:cNvSpPr txBox="1"/>
          <p:nvPr/>
        </p:nvSpPr>
        <p:spPr>
          <a:xfrm>
            <a:off x="11293931" y="1058374"/>
            <a:ext cx="1152322" cy="245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</a:t>
            </a:r>
            <a:r>
              <a:rPr lang="ko-KR" altLang="en-US" sz="1200" dirty="0"/>
              <a:t>년</a:t>
            </a:r>
            <a:r>
              <a:rPr lang="en-US" altLang="ko-KR" sz="1200" dirty="0"/>
              <a:t>12</a:t>
            </a:r>
            <a:r>
              <a:rPr lang="ko-KR" altLang="en-US" sz="1200" dirty="0"/>
              <a:t>월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CC31D3-62C1-4636-02D4-05A2FFF8A93E}"/>
              </a:ext>
            </a:extLst>
          </p:cNvPr>
          <p:cNvSpPr txBox="1"/>
          <p:nvPr/>
        </p:nvSpPr>
        <p:spPr>
          <a:xfrm>
            <a:off x="3736569" y="1427253"/>
            <a:ext cx="566209" cy="245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현재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F38EA43-25EF-CB78-66FF-21B2EE92743D}"/>
              </a:ext>
            </a:extLst>
          </p:cNvPr>
          <p:cNvCxnSpPr>
            <a:cxnSpLocks/>
          </p:cNvCxnSpPr>
          <p:nvPr/>
        </p:nvCxnSpPr>
        <p:spPr>
          <a:xfrm>
            <a:off x="9200116" y="1185538"/>
            <a:ext cx="0" cy="486926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ADC9396-A861-2FC6-FD0E-CD917CDB4BA3}"/>
              </a:ext>
            </a:extLst>
          </p:cNvPr>
          <p:cNvSpPr txBox="1"/>
          <p:nvPr/>
        </p:nvSpPr>
        <p:spPr>
          <a:xfrm>
            <a:off x="7598847" y="827901"/>
            <a:ext cx="3094389" cy="245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</a:t>
            </a:r>
            <a:r>
              <a:rPr lang="ko-KR" altLang="en-US" sz="1200" dirty="0"/>
              <a:t>년 </a:t>
            </a:r>
            <a:r>
              <a:rPr lang="en-US" altLang="ko-KR" sz="1200" dirty="0"/>
              <a:t>8</a:t>
            </a:r>
            <a:r>
              <a:rPr lang="ko-KR" altLang="en-US" sz="1200" dirty="0"/>
              <a:t>월 </a:t>
            </a:r>
            <a:r>
              <a:rPr lang="en-US" altLang="ko-KR" sz="1200" dirty="0"/>
              <a:t>PaaS(POD(</a:t>
            </a:r>
            <a:r>
              <a:rPr lang="ko-KR" altLang="en-US" sz="1200" dirty="0"/>
              <a:t>미정</a:t>
            </a:r>
            <a:r>
              <a:rPr lang="en-US" altLang="ko-KR" sz="1200" dirty="0"/>
              <a:t>))_</a:t>
            </a:r>
            <a:r>
              <a:rPr lang="ko-KR" altLang="en-US" sz="1200" dirty="0" err="1"/>
              <a:t>국자원</a:t>
            </a:r>
            <a:endParaRPr lang="ko-KR" altLang="en-US" sz="1200" dirty="0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9D1D140-2ADB-5307-C1B5-8175AF45D166}"/>
              </a:ext>
            </a:extLst>
          </p:cNvPr>
          <p:cNvCxnSpPr>
            <a:cxnSpLocks/>
          </p:cNvCxnSpPr>
          <p:nvPr/>
        </p:nvCxnSpPr>
        <p:spPr>
          <a:xfrm>
            <a:off x="5531156" y="1416011"/>
            <a:ext cx="0" cy="345709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FB629A1-0A94-951B-FE82-64C06C65A175}"/>
              </a:ext>
            </a:extLst>
          </p:cNvPr>
          <p:cNvSpPr/>
          <p:nvPr/>
        </p:nvSpPr>
        <p:spPr bwMode="auto">
          <a:xfrm>
            <a:off x="5321703" y="3475983"/>
            <a:ext cx="418906" cy="393157"/>
          </a:xfrm>
          <a:prstGeom prst="rightArrow">
            <a:avLst/>
          </a:prstGeom>
          <a:solidFill>
            <a:schemeClr val="tx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화살표: 오른쪽 25">
            <a:extLst>
              <a:ext uri="{FF2B5EF4-FFF2-40B4-BE49-F238E27FC236}">
                <a16:creationId xmlns:a16="http://schemas.microsoft.com/office/drawing/2014/main" id="{7A91DAB7-67C0-AA9E-BE7F-607649208BC8}"/>
              </a:ext>
            </a:extLst>
          </p:cNvPr>
          <p:cNvSpPr/>
          <p:nvPr/>
        </p:nvSpPr>
        <p:spPr bwMode="auto">
          <a:xfrm>
            <a:off x="8750622" y="3475983"/>
            <a:ext cx="775823" cy="393157"/>
          </a:xfrm>
          <a:prstGeom prst="rightArrow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995AA8-0EF3-6103-6885-30DC435206CE}"/>
              </a:ext>
            </a:extLst>
          </p:cNvPr>
          <p:cNvSpPr txBox="1"/>
          <p:nvPr/>
        </p:nvSpPr>
        <p:spPr>
          <a:xfrm>
            <a:off x="5141150" y="1058374"/>
            <a:ext cx="780011" cy="2452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2026</a:t>
            </a:r>
            <a:r>
              <a:rPr lang="ko-KR" altLang="en-US" sz="1200" dirty="0"/>
              <a:t>년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F37C5AF-BF6F-23EF-84E6-0986837F4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43" y="2172916"/>
            <a:ext cx="2652528" cy="33879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B87DEB0-BBD6-88D7-75BF-09396602E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609" y="2172916"/>
            <a:ext cx="2652528" cy="33879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98245EE-DB58-5416-50BE-EE1EA404C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930" y="2172916"/>
            <a:ext cx="2652528" cy="3387949"/>
          </a:xfrm>
          <a:prstGeom prst="rect">
            <a:avLst/>
          </a:prstGeom>
        </p:spPr>
      </p:pic>
      <p:sp>
        <p:nvSpPr>
          <p:cNvPr id="34" name="직사각형 33">
            <a:extLst>
              <a:ext uri="{FF2B5EF4-FFF2-40B4-BE49-F238E27FC236}">
                <a16:creationId xmlns:a16="http://schemas.microsoft.com/office/drawing/2014/main" id="{9C35956A-0D6D-C219-E668-8ADA4DC71525}"/>
              </a:ext>
            </a:extLst>
          </p:cNvPr>
          <p:cNvSpPr/>
          <p:nvPr/>
        </p:nvSpPr>
        <p:spPr bwMode="auto">
          <a:xfrm>
            <a:off x="2440287" y="2287324"/>
            <a:ext cx="2821682" cy="21710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FAFAEEE-EDBB-1903-A900-71C52ECF7750}"/>
              </a:ext>
            </a:extLst>
          </p:cNvPr>
          <p:cNvSpPr/>
          <p:nvPr/>
        </p:nvSpPr>
        <p:spPr bwMode="auto">
          <a:xfrm>
            <a:off x="5854031" y="2287324"/>
            <a:ext cx="2821682" cy="21710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567016-69F3-70C8-0D4E-A66CE3BEDFD0}"/>
              </a:ext>
            </a:extLst>
          </p:cNvPr>
          <p:cNvSpPr/>
          <p:nvPr/>
        </p:nvSpPr>
        <p:spPr bwMode="auto">
          <a:xfrm>
            <a:off x="9601352" y="2287324"/>
            <a:ext cx="2821682" cy="217105"/>
          </a:xfrm>
          <a:prstGeom prst="rect">
            <a:avLst/>
          </a:prstGeom>
          <a:noFill/>
          <a:ln w="28575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wrap="none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z="2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모서리가 둥근 직사각형 168">
            <a:extLst>
              <a:ext uri="{FF2B5EF4-FFF2-40B4-BE49-F238E27FC236}">
                <a16:creationId xmlns:a16="http://schemas.microsoft.com/office/drawing/2014/main" id="{80CA02AA-3BC9-63F3-F97F-1515B059BE26}"/>
              </a:ext>
            </a:extLst>
          </p:cNvPr>
          <p:cNvSpPr/>
          <p:nvPr/>
        </p:nvSpPr>
        <p:spPr>
          <a:xfrm>
            <a:off x="292399" y="3916884"/>
            <a:ext cx="1881753" cy="668933"/>
          </a:xfrm>
          <a:prstGeom prst="roundRect">
            <a:avLst>
              <a:gd name="adj" fmla="val 9547"/>
            </a:avLst>
          </a:prstGeom>
          <a:gradFill>
            <a:gsLst>
              <a:gs pos="80000">
                <a:schemeClr val="bg1"/>
              </a:gs>
              <a:gs pos="80000">
                <a:srgbClr val="F3F3F3"/>
              </a:gs>
            </a:gsLst>
            <a:lin ang="4800000" scaled="0"/>
          </a:gradFill>
          <a:ln w="9525">
            <a:solidFill>
              <a:srgbClr val="99A0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 eaLnBrk="0" latinLnBrk="0" hangingPunct="0">
              <a:buSzPct val="70000"/>
              <a:defRPr/>
            </a:pP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플랫폼 개발</a:t>
            </a:r>
            <a:endParaRPr lang="en-US" altLang="ko-KR" sz="1200" b="1" spc="-29" dirty="0">
              <a:ln w="12700">
                <a:solidFill>
                  <a:srgbClr val="DA463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457200" eaLnBrk="0" latinLnBrk="0" hangingPunct="0">
              <a:buSzPct val="70000"/>
              <a:defRPr/>
            </a:pP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산림과학원 서비스 개발</a:t>
            </a:r>
            <a:endParaRPr lang="en-US" altLang="ko-KR" sz="1200" b="1" spc="-29" dirty="0">
              <a:ln w="12700">
                <a:solidFill>
                  <a:srgbClr val="DA463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457200" eaLnBrk="0" latinLnBrk="0" hangingPunct="0">
              <a:buSzPct val="70000"/>
              <a:defRPr/>
            </a:pP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등</a:t>
            </a:r>
          </a:p>
        </p:txBody>
      </p:sp>
      <p:sp>
        <p:nvSpPr>
          <p:cNvPr id="30" name="모서리가 둥근 직사각형 168">
            <a:extLst>
              <a:ext uri="{FF2B5EF4-FFF2-40B4-BE49-F238E27FC236}">
                <a16:creationId xmlns:a16="http://schemas.microsoft.com/office/drawing/2014/main" id="{21AC82DA-2CBF-DCD3-A374-A5AB3F893E15}"/>
              </a:ext>
            </a:extLst>
          </p:cNvPr>
          <p:cNvSpPr/>
          <p:nvPr/>
        </p:nvSpPr>
        <p:spPr>
          <a:xfrm>
            <a:off x="292400" y="4675794"/>
            <a:ext cx="1881753" cy="885071"/>
          </a:xfrm>
          <a:prstGeom prst="roundRect">
            <a:avLst>
              <a:gd name="adj" fmla="val 9134"/>
            </a:avLst>
          </a:prstGeom>
          <a:gradFill>
            <a:gsLst>
              <a:gs pos="80000">
                <a:schemeClr val="bg1"/>
              </a:gs>
              <a:gs pos="80000">
                <a:srgbClr val="F3F3F3"/>
              </a:gs>
            </a:gsLst>
            <a:lin ang="4800000" scaled="0"/>
          </a:gradFill>
          <a:ln w="9525">
            <a:solidFill>
              <a:srgbClr val="99A0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 eaLnBrk="0" latinLnBrk="0" hangingPunct="0">
              <a:buSzPct val="70000"/>
              <a:defRPr/>
            </a:pPr>
            <a:r>
              <a:rPr lang="ko-KR" altLang="en-US" sz="1200" b="1" spc="-29" dirty="0" err="1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국자원</a:t>
            </a:r>
            <a:r>
              <a:rPr lang="en-US" altLang="ko-KR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</a:t>
            </a:r>
            <a:br>
              <a:rPr lang="en-US" altLang="ko-KR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자원운영</a:t>
            </a:r>
            <a:br>
              <a:rPr lang="en-US" altLang="ko-KR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endParaRPr lang="en-US" altLang="ko-KR" sz="1200" b="1" spc="-29" dirty="0">
              <a:ln w="12700">
                <a:solidFill>
                  <a:srgbClr val="DA463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457200" eaLnBrk="0" latinLnBrk="0" hangingPunct="0">
              <a:buSzPct val="70000"/>
              <a:defRPr/>
            </a:pP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산림청</a:t>
            </a:r>
            <a:r>
              <a:rPr lang="en-US" altLang="ko-KR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</a:t>
            </a:r>
            <a:br>
              <a:rPr lang="en-US" altLang="ko-KR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플랫폼</a:t>
            </a:r>
            <a:r>
              <a:rPr lang="en-US" altLang="ko-KR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&amp;</a:t>
            </a: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서비스 운영</a:t>
            </a:r>
          </a:p>
        </p:txBody>
      </p:sp>
      <p:sp>
        <p:nvSpPr>
          <p:cNvPr id="32" name="모서리가 둥근 직사각형 168">
            <a:extLst>
              <a:ext uri="{FF2B5EF4-FFF2-40B4-BE49-F238E27FC236}">
                <a16:creationId xmlns:a16="http://schemas.microsoft.com/office/drawing/2014/main" id="{B35531A6-1562-063A-92D3-368E8B4BA6B1}"/>
              </a:ext>
            </a:extLst>
          </p:cNvPr>
          <p:cNvSpPr/>
          <p:nvPr/>
        </p:nvSpPr>
        <p:spPr>
          <a:xfrm>
            <a:off x="292398" y="3520759"/>
            <a:ext cx="1881753" cy="324629"/>
          </a:xfrm>
          <a:prstGeom prst="roundRect">
            <a:avLst/>
          </a:prstGeom>
          <a:gradFill>
            <a:gsLst>
              <a:gs pos="80000">
                <a:schemeClr val="bg1"/>
              </a:gs>
              <a:gs pos="80000">
                <a:srgbClr val="F3F3F3"/>
              </a:gs>
            </a:gsLst>
            <a:lin ang="4800000" scaled="0"/>
          </a:gradFill>
          <a:ln w="9525">
            <a:solidFill>
              <a:srgbClr val="99A0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 eaLnBrk="0" latinLnBrk="0" hangingPunct="0">
              <a:buSzPct val="70000"/>
              <a:defRPr/>
            </a:pPr>
            <a:r>
              <a:rPr lang="ko-KR" altLang="en-US" sz="1200" b="1" spc="-29" dirty="0" err="1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국자원</a:t>
            </a:r>
            <a:r>
              <a:rPr lang="en-US" altLang="ko-KR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:</a:t>
            </a: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기본</a:t>
            </a:r>
          </a:p>
        </p:txBody>
      </p:sp>
      <p:sp>
        <p:nvSpPr>
          <p:cNvPr id="33" name="모서리가 둥근 직사각형 168">
            <a:extLst>
              <a:ext uri="{FF2B5EF4-FFF2-40B4-BE49-F238E27FC236}">
                <a16:creationId xmlns:a16="http://schemas.microsoft.com/office/drawing/2014/main" id="{1A87B75B-9CED-D21B-4794-D5C7A5D8D4CB}"/>
              </a:ext>
            </a:extLst>
          </p:cNvPr>
          <p:cNvSpPr/>
          <p:nvPr/>
        </p:nvSpPr>
        <p:spPr>
          <a:xfrm>
            <a:off x="288561" y="2373105"/>
            <a:ext cx="1881753" cy="1102666"/>
          </a:xfrm>
          <a:prstGeom prst="roundRect">
            <a:avLst>
              <a:gd name="adj" fmla="val 8893"/>
            </a:avLst>
          </a:prstGeom>
          <a:gradFill>
            <a:gsLst>
              <a:gs pos="80000">
                <a:schemeClr val="bg1"/>
              </a:gs>
              <a:gs pos="80000">
                <a:srgbClr val="F3F3F3"/>
              </a:gs>
            </a:gsLst>
            <a:lin ang="4800000" scaled="0"/>
          </a:gradFill>
          <a:ln w="9525">
            <a:solidFill>
              <a:srgbClr val="99A0A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defTabSz="457200" eaLnBrk="0" latinLnBrk="0" hangingPunct="0">
              <a:buSzPct val="70000"/>
              <a:defRPr/>
            </a:pPr>
            <a:r>
              <a:rPr lang="en-US" altLang="ko-KR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G</a:t>
            </a: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클라우드</a:t>
            </a:r>
            <a:endParaRPr lang="en-US" altLang="ko-KR" sz="1200" b="1" spc="-29" dirty="0">
              <a:ln w="12700">
                <a:solidFill>
                  <a:srgbClr val="DA463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457200" eaLnBrk="0" latinLnBrk="0" hangingPunct="0">
              <a:buSzPct val="70000"/>
              <a:defRPr/>
            </a:pP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운영환경</a:t>
            </a:r>
            <a:endParaRPr lang="en-US" altLang="ko-KR" sz="1200" b="1" spc="-29" dirty="0">
              <a:ln w="12700">
                <a:solidFill>
                  <a:srgbClr val="DA4632">
                    <a:alpha val="0"/>
                  </a:srgbClr>
                </a:solidFill>
              </a:ln>
              <a:solidFill>
                <a:prstClr val="black">
                  <a:lumMod val="85000"/>
                  <a:lumOff val="15000"/>
                </a:prst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algn="ctr" defTabSz="457200" eaLnBrk="0" latinLnBrk="0" hangingPunct="0">
              <a:buSzPct val="70000"/>
              <a:defRPr/>
            </a:pPr>
            <a:r>
              <a:rPr lang="ko-KR" altLang="en-US" sz="1200" b="1" spc="-29" dirty="0">
                <a:ln w="12700">
                  <a:solidFill>
                    <a:srgbClr val="DA4632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구축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352A77-22BA-BC03-7583-4026061383DB}"/>
              </a:ext>
            </a:extLst>
          </p:cNvPr>
          <p:cNvSpPr txBox="1"/>
          <p:nvPr/>
        </p:nvSpPr>
        <p:spPr>
          <a:xfrm>
            <a:off x="4900342" y="2911589"/>
            <a:ext cx="1156009" cy="51766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</a:rPr>
              <a:t>이관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BA98FE4D-5B75-9DCF-5B09-1EDDEAC31BDE}"/>
              </a:ext>
            </a:extLst>
          </p:cNvPr>
          <p:cNvCxnSpPr>
            <a:cxnSpLocks/>
          </p:cNvCxnSpPr>
          <p:nvPr/>
        </p:nvCxnSpPr>
        <p:spPr>
          <a:xfrm>
            <a:off x="9200116" y="1416011"/>
            <a:ext cx="0" cy="345709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3453022-7121-672F-1544-5B360F6B3E35}"/>
              </a:ext>
            </a:extLst>
          </p:cNvPr>
          <p:cNvSpPr txBox="1"/>
          <p:nvPr/>
        </p:nvSpPr>
        <p:spPr>
          <a:xfrm>
            <a:off x="8537135" y="2911589"/>
            <a:ext cx="1156009" cy="51766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rgbClr val="FF0000"/>
                </a:solidFill>
              </a:rPr>
              <a:t>전환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862820-E34F-2144-2E33-101AB76854E1}"/>
              </a:ext>
            </a:extLst>
          </p:cNvPr>
          <p:cNvSpPr txBox="1"/>
          <p:nvPr/>
        </p:nvSpPr>
        <p:spPr>
          <a:xfrm>
            <a:off x="5980787" y="5868217"/>
            <a:ext cx="2682118" cy="899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최종 산출물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VM</a:t>
            </a:r>
            <a:r>
              <a:rPr lang="ko-KR" altLang="en-US" sz="1200" dirty="0"/>
              <a:t>기반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DevOps </a:t>
            </a:r>
            <a:r>
              <a:rPr lang="ko-KR" altLang="en-US" sz="1200" dirty="0"/>
              <a:t>환경 구축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CI/CD </a:t>
            </a:r>
            <a:r>
              <a:rPr lang="ko-KR" altLang="en-US" sz="1200" dirty="0"/>
              <a:t>체계 구축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개발 지원</a:t>
            </a:r>
            <a:r>
              <a:rPr lang="en-US" altLang="ko-KR" sz="1200" dirty="0"/>
              <a:t>/</a:t>
            </a:r>
            <a:r>
              <a:rPr lang="ko-KR" altLang="en-US" sz="1200" dirty="0"/>
              <a:t>운영 시스템 구축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FCF583-9364-F8AA-2E4D-1D803CCD411A}"/>
              </a:ext>
            </a:extLst>
          </p:cNvPr>
          <p:cNvSpPr txBox="1"/>
          <p:nvPr/>
        </p:nvSpPr>
        <p:spPr>
          <a:xfrm>
            <a:off x="9685928" y="5868217"/>
            <a:ext cx="29794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예정 산출물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PaaS(POD)</a:t>
            </a:r>
            <a:r>
              <a:rPr lang="ko-KR" altLang="en-US" sz="1200" dirty="0"/>
              <a:t>기반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DevOps </a:t>
            </a:r>
            <a:r>
              <a:rPr lang="ko-KR" altLang="en-US" sz="1200" dirty="0"/>
              <a:t>환경 구축 고도화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CI/CD </a:t>
            </a:r>
            <a:r>
              <a:rPr lang="ko-KR" altLang="en-US" sz="1200" dirty="0"/>
              <a:t>체계 구축 고도화</a:t>
            </a: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개발 지원</a:t>
            </a:r>
            <a:r>
              <a:rPr lang="en-US" altLang="ko-KR" sz="1200" dirty="0"/>
              <a:t>/</a:t>
            </a:r>
            <a:r>
              <a:rPr lang="ko-KR" altLang="en-US" sz="1200" dirty="0"/>
              <a:t>운영 시스템 구축 고도화</a:t>
            </a:r>
          </a:p>
        </p:txBody>
      </p:sp>
      <p:sp>
        <p:nvSpPr>
          <p:cNvPr id="38" name="모서리가 둥근 직사각형 46">
            <a:extLst>
              <a:ext uri="{FF2B5EF4-FFF2-40B4-BE49-F238E27FC236}">
                <a16:creationId xmlns:a16="http://schemas.microsoft.com/office/drawing/2014/main" id="{5E260D9D-0337-66B5-72FC-14B0406BADEE}"/>
              </a:ext>
            </a:extLst>
          </p:cNvPr>
          <p:cNvSpPr/>
          <p:nvPr/>
        </p:nvSpPr>
        <p:spPr>
          <a:xfrm>
            <a:off x="2478642" y="5579482"/>
            <a:ext cx="2652528" cy="191581"/>
          </a:xfrm>
          <a:prstGeom prst="roundRect">
            <a:avLst>
              <a:gd name="adj" fmla="val 21606"/>
            </a:avLst>
          </a:prstGeom>
          <a:solidFill>
            <a:srgbClr val="EAEAEA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PaaS(K8S) </a:t>
            </a:r>
            <a:r>
              <a: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자체구축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7E44A50F-CDCC-5CBA-500D-F5395434AAC9}"/>
              </a:ext>
            </a:extLst>
          </p:cNvPr>
          <p:cNvGrpSpPr/>
          <p:nvPr/>
        </p:nvGrpSpPr>
        <p:grpSpPr>
          <a:xfrm>
            <a:off x="2478642" y="1709002"/>
            <a:ext cx="2652528" cy="393106"/>
            <a:chOff x="2048026" y="1899423"/>
            <a:chExt cx="2306955" cy="444066"/>
          </a:xfrm>
        </p:grpSpPr>
        <p:sp>
          <p:nvSpPr>
            <p:cNvPr id="40" name="모서리가 둥근 직사각형 46">
              <a:extLst>
                <a:ext uri="{FF2B5EF4-FFF2-40B4-BE49-F238E27FC236}">
                  <a16:creationId xmlns:a16="http://schemas.microsoft.com/office/drawing/2014/main" id="{EB5B6416-16E2-DEE8-1A80-F386CCBC6694}"/>
                </a:ext>
              </a:extLst>
            </p:cNvPr>
            <p:cNvSpPr/>
            <p:nvPr/>
          </p:nvSpPr>
          <p:spPr>
            <a:xfrm>
              <a:off x="2048026" y="1899423"/>
              <a:ext cx="2306955" cy="216417"/>
            </a:xfrm>
            <a:prstGeom prst="roundRect">
              <a:avLst>
                <a:gd name="adj" fmla="val 21606"/>
              </a:avLst>
            </a:prstGeom>
            <a:solidFill>
              <a:srgbClr val="EAEAEA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spc="-27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물리장소 </a:t>
              </a:r>
              <a:r>
                <a:rPr lang="en-US" altLang="ko-KR" sz="1100" spc="-27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: </a:t>
              </a:r>
              <a:r>
                <a:rPr lang="ko-KR" altLang="en-US" sz="1100" spc="-27" dirty="0" err="1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대전합사</a:t>
              </a:r>
              <a:endPara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41" name="모서리가 둥근 직사각형 46">
              <a:extLst>
                <a:ext uri="{FF2B5EF4-FFF2-40B4-BE49-F238E27FC236}">
                  <a16:creationId xmlns:a16="http://schemas.microsoft.com/office/drawing/2014/main" id="{A83EFC19-4655-C6D9-B3D9-B0EAAFAADA83}"/>
                </a:ext>
              </a:extLst>
            </p:cNvPr>
            <p:cNvSpPr/>
            <p:nvPr/>
          </p:nvSpPr>
          <p:spPr>
            <a:xfrm>
              <a:off x="2048026" y="2127072"/>
              <a:ext cx="2306955" cy="216417"/>
            </a:xfrm>
            <a:prstGeom prst="roundRect">
              <a:avLst>
                <a:gd name="adj" fmla="val 21606"/>
              </a:avLst>
            </a:prstGeom>
            <a:solidFill>
              <a:srgbClr val="EAEAEA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개발환경</a:t>
              </a:r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C04E2ED7-24F1-0A8C-7353-9FE089474DF0}"/>
              </a:ext>
            </a:extLst>
          </p:cNvPr>
          <p:cNvGrpSpPr/>
          <p:nvPr/>
        </p:nvGrpSpPr>
        <p:grpSpPr>
          <a:xfrm>
            <a:off x="6010377" y="1709002"/>
            <a:ext cx="2652528" cy="393106"/>
            <a:chOff x="2048026" y="1899423"/>
            <a:chExt cx="2306955" cy="444066"/>
          </a:xfrm>
        </p:grpSpPr>
        <p:sp>
          <p:nvSpPr>
            <p:cNvPr id="44" name="모서리가 둥근 직사각형 46">
              <a:extLst>
                <a:ext uri="{FF2B5EF4-FFF2-40B4-BE49-F238E27FC236}">
                  <a16:creationId xmlns:a16="http://schemas.microsoft.com/office/drawing/2014/main" id="{BAEA6B8C-ECA4-BAE3-7892-ED5483E7CC4A}"/>
                </a:ext>
              </a:extLst>
            </p:cNvPr>
            <p:cNvSpPr/>
            <p:nvPr/>
          </p:nvSpPr>
          <p:spPr>
            <a:xfrm>
              <a:off x="2048026" y="1899423"/>
              <a:ext cx="2306955" cy="216417"/>
            </a:xfrm>
            <a:prstGeom prst="roundRect">
              <a:avLst>
                <a:gd name="adj" fmla="val 21606"/>
              </a:avLst>
            </a:prstGeom>
            <a:solidFill>
              <a:srgbClr val="EAEAEA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spc="-27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물리장소 </a:t>
              </a:r>
              <a:r>
                <a:rPr lang="en-US" altLang="ko-KR" sz="1100" spc="-27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: </a:t>
              </a:r>
              <a:r>
                <a:rPr lang="ko-KR" altLang="en-US" sz="1100" spc="-27" dirty="0" err="1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국자원</a:t>
              </a:r>
              <a:r>
                <a:rPr lang="ko-KR" altLang="en-US" sz="1100" spc="-27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광주센터</a:t>
              </a:r>
              <a:endPara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45" name="모서리가 둥근 직사각형 46">
              <a:extLst>
                <a:ext uri="{FF2B5EF4-FFF2-40B4-BE49-F238E27FC236}">
                  <a16:creationId xmlns:a16="http://schemas.microsoft.com/office/drawing/2014/main" id="{D781397A-A747-6C4D-B12A-049889549FEE}"/>
                </a:ext>
              </a:extLst>
            </p:cNvPr>
            <p:cNvSpPr/>
            <p:nvPr/>
          </p:nvSpPr>
          <p:spPr>
            <a:xfrm>
              <a:off x="2048026" y="2127072"/>
              <a:ext cx="2306955" cy="216417"/>
            </a:xfrm>
            <a:prstGeom prst="roundRect">
              <a:avLst>
                <a:gd name="adj" fmla="val 21606"/>
              </a:avLst>
            </a:prstGeom>
            <a:solidFill>
              <a:srgbClr val="EAEAEA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운영환경</a:t>
              </a:r>
              <a:r>
                <a:rPr kumimoji="0" lang="en-US" altLang="ko-KR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행정망</a:t>
              </a:r>
              <a:r>
                <a:rPr kumimoji="0" lang="en-US" altLang="ko-KR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_</a:t>
              </a:r>
              <a:r>
                <a:rPr kumimoji="0" lang="ko-KR" altLang="en-US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외부</a:t>
              </a:r>
              <a:r>
                <a:rPr kumimoji="0" lang="en-US" altLang="ko-KR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  <a:endPara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6D397A4-B12F-DB26-F314-E9EE88008A0B}"/>
              </a:ext>
            </a:extLst>
          </p:cNvPr>
          <p:cNvGrpSpPr/>
          <p:nvPr/>
        </p:nvGrpSpPr>
        <p:grpSpPr>
          <a:xfrm>
            <a:off x="9601352" y="1709002"/>
            <a:ext cx="2652528" cy="393106"/>
            <a:chOff x="2048026" y="1899423"/>
            <a:chExt cx="2306955" cy="444066"/>
          </a:xfrm>
        </p:grpSpPr>
        <p:sp>
          <p:nvSpPr>
            <p:cNvPr id="53" name="모서리가 둥근 직사각형 46">
              <a:extLst>
                <a:ext uri="{FF2B5EF4-FFF2-40B4-BE49-F238E27FC236}">
                  <a16:creationId xmlns:a16="http://schemas.microsoft.com/office/drawing/2014/main" id="{4C83066B-969D-F8F7-CF84-7F78A3E3388C}"/>
                </a:ext>
              </a:extLst>
            </p:cNvPr>
            <p:cNvSpPr/>
            <p:nvPr/>
          </p:nvSpPr>
          <p:spPr>
            <a:xfrm>
              <a:off x="2048026" y="1899423"/>
              <a:ext cx="2306955" cy="216417"/>
            </a:xfrm>
            <a:prstGeom prst="roundRect">
              <a:avLst>
                <a:gd name="adj" fmla="val 21606"/>
              </a:avLst>
            </a:prstGeom>
            <a:solidFill>
              <a:srgbClr val="EAEAEA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spc="-27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물리장소 </a:t>
              </a:r>
              <a:r>
                <a:rPr lang="en-US" altLang="ko-KR" sz="1100" spc="-27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: </a:t>
              </a:r>
              <a:r>
                <a:rPr lang="ko-KR" altLang="en-US" sz="1100" spc="-27" dirty="0" err="1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국자원</a:t>
              </a:r>
              <a:r>
                <a:rPr lang="ko-KR" altLang="en-US" sz="1100" spc="-27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광주센터</a:t>
              </a:r>
              <a:endPara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  <p:sp>
          <p:nvSpPr>
            <p:cNvPr id="54" name="모서리가 둥근 직사각형 46">
              <a:extLst>
                <a:ext uri="{FF2B5EF4-FFF2-40B4-BE49-F238E27FC236}">
                  <a16:creationId xmlns:a16="http://schemas.microsoft.com/office/drawing/2014/main" id="{2896A7B8-ECAA-4C19-53A1-D803267A8C95}"/>
                </a:ext>
              </a:extLst>
            </p:cNvPr>
            <p:cNvSpPr/>
            <p:nvPr/>
          </p:nvSpPr>
          <p:spPr>
            <a:xfrm>
              <a:off x="2048026" y="2127072"/>
              <a:ext cx="2306955" cy="216417"/>
            </a:xfrm>
            <a:prstGeom prst="roundRect">
              <a:avLst>
                <a:gd name="adj" fmla="val 21606"/>
              </a:avLst>
            </a:prstGeom>
            <a:solidFill>
              <a:srgbClr val="EAEAEA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운영환경</a:t>
              </a:r>
              <a:r>
                <a:rPr kumimoji="0" lang="en-US" altLang="ko-KR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행정망</a:t>
              </a:r>
              <a:r>
                <a:rPr kumimoji="0" lang="en-US" altLang="ko-KR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_</a:t>
              </a:r>
              <a:r>
                <a:rPr kumimoji="0" lang="ko-KR" altLang="en-US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외부</a:t>
              </a:r>
              <a:r>
                <a:rPr kumimoji="0" lang="en-US" altLang="ko-KR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/</a:t>
              </a:r>
              <a:r>
                <a:rPr kumimoji="0" lang="ko-KR" altLang="en-US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내부</a:t>
              </a:r>
              <a:r>
                <a:rPr kumimoji="0" lang="en-US" altLang="ko-KR" sz="1100" b="0" i="0" u="none" strike="noStrike" kern="1200" cap="none" spc="-27" normalizeH="0" baseline="0" noProof="0" dirty="0">
                  <a:ln w="12700">
                    <a:solidFill>
                      <a:srgbClr val="A9AFB7">
                        <a:alpha val="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  <a:endPara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endParaRPr>
            </a:p>
          </p:txBody>
        </p:sp>
      </p:grpSp>
      <p:sp>
        <p:nvSpPr>
          <p:cNvPr id="55" name="모서리가 둥근 직사각형 46">
            <a:extLst>
              <a:ext uri="{FF2B5EF4-FFF2-40B4-BE49-F238E27FC236}">
                <a16:creationId xmlns:a16="http://schemas.microsoft.com/office/drawing/2014/main" id="{21BA56C6-A9FB-4518-A3A3-64DE3F85971F}"/>
              </a:ext>
            </a:extLst>
          </p:cNvPr>
          <p:cNvSpPr/>
          <p:nvPr/>
        </p:nvSpPr>
        <p:spPr>
          <a:xfrm>
            <a:off x="5938609" y="5579482"/>
            <a:ext cx="2652528" cy="191581"/>
          </a:xfrm>
          <a:prstGeom prst="roundRect">
            <a:avLst>
              <a:gd name="adj" fmla="val 21606"/>
            </a:avLst>
          </a:prstGeom>
          <a:solidFill>
            <a:srgbClr val="EAEAEA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VM</a:t>
            </a:r>
            <a:r>
              <a: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에서 서비스 운영</a:t>
            </a:r>
          </a:p>
        </p:txBody>
      </p:sp>
      <p:sp>
        <p:nvSpPr>
          <p:cNvPr id="56" name="모서리가 둥근 직사각형 46">
            <a:extLst>
              <a:ext uri="{FF2B5EF4-FFF2-40B4-BE49-F238E27FC236}">
                <a16:creationId xmlns:a16="http://schemas.microsoft.com/office/drawing/2014/main" id="{80F3E4D8-673B-1AB9-F7CE-7AFE1EE07812}"/>
              </a:ext>
            </a:extLst>
          </p:cNvPr>
          <p:cNvSpPr/>
          <p:nvPr/>
        </p:nvSpPr>
        <p:spPr>
          <a:xfrm>
            <a:off x="9685927" y="5579482"/>
            <a:ext cx="2652528" cy="191581"/>
          </a:xfrm>
          <a:prstGeom prst="roundRect">
            <a:avLst>
              <a:gd name="adj" fmla="val 21606"/>
            </a:avLst>
          </a:prstGeom>
          <a:solidFill>
            <a:srgbClr val="EAEAEA"/>
          </a:solidFill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PaaS</a:t>
            </a:r>
            <a:r>
              <a: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는 </a:t>
            </a:r>
            <a:r>
              <a:rPr kumimoji="0" lang="ko-KR" altLang="en-US" sz="1100" b="0" i="0" u="none" strike="noStrike" kern="1200" cap="none" spc="-27" normalizeH="0" baseline="0" noProof="0" dirty="0" err="1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국자원</a:t>
            </a:r>
            <a:r>
              <a:rPr kumimoji="0" lang="ko-KR" altLang="en-US" sz="1100" b="0" i="0" u="none" strike="noStrike" kern="1200" cap="none" spc="-27" normalizeH="0" baseline="0" noProof="0" dirty="0">
                <a:ln w="12700">
                  <a:solidFill>
                    <a:srgbClr val="A9AFB7">
                      <a:alpha val="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+mn-cs"/>
              </a:rPr>
              <a:t> 제공예정</a:t>
            </a:r>
          </a:p>
        </p:txBody>
      </p:sp>
      <p:sp>
        <p:nvSpPr>
          <p:cNvPr id="58" name="제목 2">
            <a:extLst>
              <a:ext uri="{FF2B5EF4-FFF2-40B4-BE49-F238E27FC236}">
                <a16:creationId xmlns:a16="http://schemas.microsoft.com/office/drawing/2014/main" id="{114B9C0C-0FF3-2176-9D4E-5BE0B852EF57}"/>
              </a:ext>
            </a:extLst>
          </p:cNvPr>
          <p:cNvSpPr txBox="1">
            <a:spLocks/>
          </p:cNvSpPr>
          <p:nvPr/>
        </p:nvSpPr>
        <p:spPr>
          <a:xfrm>
            <a:off x="422854" y="171738"/>
            <a:ext cx="11953929" cy="476124"/>
          </a:xfrm>
          <a:prstGeom prst="rect">
            <a:avLst/>
          </a:prstGeom>
        </p:spPr>
        <p:txBody>
          <a:bodyPr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699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592447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1184895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777342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2369791" algn="l" rtl="0" fontAlgn="base">
              <a:spcBef>
                <a:spcPct val="0"/>
              </a:spcBef>
              <a:spcAft>
                <a:spcPct val="0"/>
              </a:spcAft>
              <a:defRPr sz="2602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latinLnBrk="0"/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G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클라우드 네이티브 전환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이관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 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로드맵 상세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(</a:t>
            </a:r>
            <a:r>
              <a:rPr lang="ko-KR" altLang="en-US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안</a:t>
            </a:r>
            <a:r>
              <a:rPr lang="en-US" altLang="ko-KR" sz="2800" spc="-123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)</a:t>
            </a:r>
            <a:endParaRPr lang="ko-KR" altLang="en-US" sz="2800" spc="-123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31421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pattFill prst="dkHorz">
          <a:fgClr>
            <a:srgbClr val="EAEAEA"/>
          </a:fgClr>
          <a:bgClr>
            <a:srgbClr val="FFFFFF"/>
          </a:bgClr>
        </a:pattFill>
        <a:ln w="28575" algn="ctr">
          <a:solidFill>
            <a:srgbClr val="DDDDDD"/>
          </a:solidFill>
          <a:miter lim="800000"/>
          <a:headEnd/>
          <a:tailEnd/>
        </a:ln>
      </a:spPr>
      <a:bodyPr wrap="none" anchor="ctr"/>
      <a:lstStyle>
        <a:defPPr fontAlgn="base">
          <a:spcBef>
            <a:spcPct val="0"/>
          </a:spcBef>
          <a:spcAft>
            <a:spcPct val="0"/>
          </a:spcAft>
          <a:defRPr kumimoji="1" sz="2400">
            <a:solidFill>
              <a:srgbClr val="000000"/>
            </a:solidFill>
            <a:latin typeface="맑은 고딕" pitchFamily="50" charset="-127"/>
            <a:ea typeface="맑은 고딕" pitchFamily="50" charset="-127"/>
          </a:defRPr>
        </a:defPPr>
      </a:lstStyle>
    </a:spDef>
  </a:objectDefaults>
  <a:extraClrSchemeLst>
    <a:extraClrScheme>
      <a:clrScheme name="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27867</TotalTime>
  <Words>265</Words>
  <Application>Microsoft Office PowerPoint</Application>
  <PresentationFormat>사용자 지정</PresentationFormat>
  <Paragraphs>67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1" baseType="lpstr">
      <vt:lpstr>G마켓 산스 TTF Bold</vt:lpstr>
      <vt:lpstr>G마켓 산스 TTF Medium</vt:lpstr>
      <vt:lpstr>HG꼬딕씨 80g</vt:lpstr>
      <vt:lpstr>KoPub돋움체 Bold</vt:lpstr>
      <vt:lpstr>KoPub돋움체 Medium</vt:lpstr>
      <vt:lpstr>맑은 고딕</vt:lpstr>
      <vt:lpstr>Arial</vt:lpstr>
      <vt:lpstr>2_Office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onpoom</dc:creator>
  <cp:lastModifiedBy>정 기찬</cp:lastModifiedBy>
  <cp:revision>725</cp:revision>
  <cp:lastPrinted>2024-04-23T01:58:56Z</cp:lastPrinted>
  <dcterms:created xsi:type="dcterms:W3CDTF">2016-02-02T08:14:26Z</dcterms:created>
  <dcterms:modified xsi:type="dcterms:W3CDTF">2025-11-13T03:40:30Z</dcterms:modified>
</cp:coreProperties>
</file>