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4" r:id="rId1"/>
  </p:sldMasterIdLst>
  <p:notesMasterIdLst>
    <p:notesMasterId r:id="rId11"/>
  </p:notesMasterIdLst>
  <p:handoutMasterIdLst>
    <p:handoutMasterId r:id="rId12"/>
  </p:handoutMasterIdLst>
  <p:sldIdLst>
    <p:sldId id="450" r:id="rId2"/>
    <p:sldId id="605" r:id="rId3"/>
    <p:sldId id="627" r:id="rId4"/>
    <p:sldId id="609" r:id="rId5"/>
    <p:sldId id="622" r:id="rId6"/>
    <p:sldId id="499" r:id="rId7"/>
    <p:sldId id="532" r:id="rId8"/>
    <p:sldId id="628" r:id="rId9"/>
    <p:sldId id="629" r:id="rId10"/>
  </p:sldIdLst>
  <p:sldSz cx="12801600" cy="7200900"/>
  <p:notesSz cx="6735763" cy="9866313"/>
  <p:defaultTextStyle>
    <a:defPPr>
      <a:defRPr lang="ko-KR"/>
    </a:defPPr>
    <a:lvl1pPr marL="0" algn="l" defTabSz="987369" rtl="0" eaLnBrk="1" latinLnBrk="1" hangingPunct="1">
      <a:defRPr sz="1944" kern="1200">
        <a:solidFill>
          <a:schemeClr val="tx1"/>
        </a:solidFill>
        <a:latin typeface="+mn-lt"/>
        <a:ea typeface="+mn-ea"/>
        <a:cs typeface="+mn-cs"/>
      </a:defRPr>
    </a:lvl1pPr>
    <a:lvl2pPr marL="493685" algn="l" defTabSz="987369" rtl="0" eaLnBrk="1" latinLnBrk="1" hangingPunct="1">
      <a:defRPr sz="1944" kern="1200">
        <a:solidFill>
          <a:schemeClr val="tx1"/>
        </a:solidFill>
        <a:latin typeface="+mn-lt"/>
        <a:ea typeface="+mn-ea"/>
        <a:cs typeface="+mn-cs"/>
      </a:defRPr>
    </a:lvl2pPr>
    <a:lvl3pPr marL="987369" algn="l" defTabSz="987369" rtl="0" eaLnBrk="1" latinLnBrk="1" hangingPunct="1">
      <a:defRPr sz="1944" kern="1200">
        <a:solidFill>
          <a:schemeClr val="tx1"/>
        </a:solidFill>
        <a:latin typeface="+mn-lt"/>
        <a:ea typeface="+mn-ea"/>
        <a:cs typeface="+mn-cs"/>
      </a:defRPr>
    </a:lvl3pPr>
    <a:lvl4pPr marL="1481054" algn="l" defTabSz="987369" rtl="0" eaLnBrk="1" latinLnBrk="1" hangingPunct="1">
      <a:defRPr sz="1944" kern="1200">
        <a:solidFill>
          <a:schemeClr val="tx1"/>
        </a:solidFill>
        <a:latin typeface="+mn-lt"/>
        <a:ea typeface="+mn-ea"/>
        <a:cs typeface="+mn-cs"/>
      </a:defRPr>
    </a:lvl4pPr>
    <a:lvl5pPr marL="1974738" algn="l" defTabSz="987369" rtl="0" eaLnBrk="1" latinLnBrk="1" hangingPunct="1">
      <a:defRPr sz="1944" kern="1200">
        <a:solidFill>
          <a:schemeClr val="tx1"/>
        </a:solidFill>
        <a:latin typeface="+mn-lt"/>
        <a:ea typeface="+mn-ea"/>
        <a:cs typeface="+mn-cs"/>
      </a:defRPr>
    </a:lvl5pPr>
    <a:lvl6pPr marL="2468423" algn="l" defTabSz="987369" rtl="0" eaLnBrk="1" latinLnBrk="1" hangingPunct="1">
      <a:defRPr sz="1944" kern="1200">
        <a:solidFill>
          <a:schemeClr val="tx1"/>
        </a:solidFill>
        <a:latin typeface="+mn-lt"/>
        <a:ea typeface="+mn-ea"/>
        <a:cs typeface="+mn-cs"/>
      </a:defRPr>
    </a:lvl6pPr>
    <a:lvl7pPr marL="2962107" algn="l" defTabSz="987369" rtl="0" eaLnBrk="1" latinLnBrk="1" hangingPunct="1">
      <a:defRPr sz="1944" kern="1200">
        <a:solidFill>
          <a:schemeClr val="tx1"/>
        </a:solidFill>
        <a:latin typeface="+mn-lt"/>
        <a:ea typeface="+mn-ea"/>
        <a:cs typeface="+mn-cs"/>
      </a:defRPr>
    </a:lvl7pPr>
    <a:lvl8pPr marL="3455792" algn="l" defTabSz="987369" rtl="0" eaLnBrk="1" latinLnBrk="1" hangingPunct="1">
      <a:defRPr sz="1944" kern="1200">
        <a:solidFill>
          <a:schemeClr val="tx1"/>
        </a:solidFill>
        <a:latin typeface="+mn-lt"/>
        <a:ea typeface="+mn-ea"/>
        <a:cs typeface="+mn-cs"/>
      </a:defRPr>
    </a:lvl8pPr>
    <a:lvl9pPr marL="3949476" algn="l" defTabSz="987369" rtl="0" eaLnBrk="1" latinLnBrk="1" hangingPunct="1">
      <a:defRPr sz="194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403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000000"/>
    <a:srgbClr val="23ACF1"/>
    <a:srgbClr val="F1F7FE"/>
    <a:srgbClr val="FFFFFF"/>
    <a:srgbClr val="7FB7F3"/>
    <a:srgbClr val="E2E2E2"/>
    <a:srgbClr val="C9C9C9"/>
    <a:srgbClr val="A9A9A9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6357" autoAdjust="0"/>
  </p:normalViewPr>
  <p:slideViewPr>
    <p:cSldViewPr snapToGrid="0">
      <p:cViewPr varScale="1">
        <p:scale>
          <a:sx n="98" d="100"/>
          <a:sy n="98" d="100"/>
        </p:scale>
        <p:origin x="96" y="636"/>
      </p:cViewPr>
      <p:guideLst>
        <p:guide orient="horz" pos="2268"/>
        <p:guide pos="4031"/>
      </p:guideLst>
    </p:cSldViewPr>
  </p:slideViewPr>
  <p:outlineViewPr>
    <p:cViewPr>
      <p:scale>
        <a:sx n="33" d="100"/>
        <a:sy n="33" d="100"/>
      </p:scale>
      <p:origin x="0" y="-13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184"/>
    </p:cViewPr>
  </p:sorterViewPr>
  <p:notesViewPr>
    <p:cSldViewPr snapToGrid="0">
      <p:cViewPr varScale="1">
        <p:scale>
          <a:sx n="67" d="100"/>
          <a:sy n="67" d="100"/>
        </p:scale>
        <p:origin x="322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464DA-A8C0-4BE2-B97A-4F6BB7CE53A3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F76D09-CEFC-44A2-ADF3-B80562E4DD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9606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73A8E0-B231-4618-A7FB-3586426091C6}" type="datetimeFigureOut">
              <a:rPr lang="ko-KR" altLang="en-US" smtClean="0"/>
              <a:pPr/>
              <a:t>2025-11-05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1ED82E-EFFE-4132-A496-3316152726C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801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87369" rtl="0" eaLnBrk="1" latinLnBrk="1" hangingPunct="1">
      <a:defRPr sz="1296" kern="1200">
        <a:solidFill>
          <a:schemeClr val="tx1"/>
        </a:solidFill>
        <a:latin typeface="+mn-lt"/>
        <a:ea typeface="+mn-ea"/>
        <a:cs typeface="+mn-cs"/>
      </a:defRPr>
    </a:lvl1pPr>
    <a:lvl2pPr marL="493685" algn="l" defTabSz="987369" rtl="0" eaLnBrk="1" latinLnBrk="1" hangingPunct="1">
      <a:defRPr sz="1296" kern="1200">
        <a:solidFill>
          <a:schemeClr val="tx1"/>
        </a:solidFill>
        <a:latin typeface="+mn-lt"/>
        <a:ea typeface="+mn-ea"/>
        <a:cs typeface="+mn-cs"/>
      </a:defRPr>
    </a:lvl2pPr>
    <a:lvl3pPr marL="987369" algn="l" defTabSz="987369" rtl="0" eaLnBrk="1" latinLnBrk="1" hangingPunct="1">
      <a:defRPr sz="1296" kern="1200">
        <a:solidFill>
          <a:schemeClr val="tx1"/>
        </a:solidFill>
        <a:latin typeface="+mn-lt"/>
        <a:ea typeface="+mn-ea"/>
        <a:cs typeface="+mn-cs"/>
      </a:defRPr>
    </a:lvl3pPr>
    <a:lvl4pPr marL="1481054" algn="l" defTabSz="987369" rtl="0" eaLnBrk="1" latinLnBrk="1" hangingPunct="1">
      <a:defRPr sz="1296" kern="1200">
        <a:solidFill>
          <a:schemeClr val="tx1"/>
        </a:solidFill>
        <a:latin typeface="+mn-lt"/>
        <a:ea typeface="+mn-ea"/>
        <a:cs typeface="+mn-cs"/>
      </a:defRPr>
    </a:lvl4pPr>
    <a:lvl5pPr marL="1974738" algn="l" defTabSz="987369" rtl="0" eaLnBrk="1" latinLnBrk="1" hangingPunct="1">
      <a:defRPr sz="1296" kern="1200">
        <a:solidFill>
          <a:schemeClr val="tx1"/>
        </a:solidFill>
        <a:latin typeface="+mn-lt"/>
        <a:ea typeface="+mn-ea"/>
        <a:cs typeface="+mn-cs"/>
      </a:defRPr>
    </a:lvl5pPr>
    <a:lvl6pPr marL="2468423" algn="l" defTabSz="987369" rtl="0" eaLnBrk="1" latinLnBrk="1" hangingPunct="1">
      <a:defRPr sz="1296" kern="1200">
        <a:solidFill>
          <a:schemeClr val="tx1"/>
        </a:solidFill>
        <a:latin typeface="+mn-lt"/>
        <a:ea typeface="+mn-ea"/>
        <a:cs typeface="+mn-cs"/>
      </a:defRPr>
    </a:lvl6pPr>
    <a:lvl7pPr marL="2962107" algn="l" defTabSz="987369" rtl="0" eaLnBrk="1" latinLnBrk="1" hangingPunct="1">
      <a:defRPr sz="1296" kern="1200">
        <a:solidFill>
          <a:schemeClr val="tx1"/>
        </a:solidFill>
        <a:latin typeface="+mn-lt"/>
        <a:ea typeface="+mn-ea"/>
        <a:cs typeface="+mn-cs"/>
      </a:defRPr>
    </a:lvl7pPr>
    <a:lvl8pPr marL="3455792" algn="l" defTabSz="987369" rtl="0" eaLnBrk="1" latinLnBrk="1" hangingPunct="1">
      <a:defRPr sz="1296" kern="1200">
        <a:solidFill>
          <a:schemeClr val="tx1"/>
        </a:solidFill>
        <a:latin typeface="+mn-lt"/>
        <a:ea typeface="+mn-ea"/>
        <a:cs typeface="+mn-cs"/>
      </a:defRPr>
    </a:lvl8pPr>
    <a:lvl9pPr marL="3949476" algn="l" defTabSz="987369" rtl="0" eaLnBrk="1" latinLnBrk="1" hangingPunct="1">
      <a:defRPr sz="129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안개이(가) 표시된 사진&#10;&#10;자동 생성된 설명">
            <a:extLst>
              <a:ext uri="{FF2B5EF4-FFF2-40B4-BE49-F238E27FC236}">
                <a16:creationId xmlns:a16="http://schemas.microsoft.com/office/drawing/2014/main" id="{0E83C7FA-7FCC-C9F8-7F7C-7111070047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801600" cy="72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771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직선 연결선 29"/>
          <p:cNvCxnSpPr/>
          <p:nvPr userDrawn="1"/>
        </p:nvCxnSpPr>
        <p:spPr bwMode="auto">
          <a:xfrm>
            <a:off x="0" y="4763"/>
            <a:ext cx="12801600" cy="0"/>
          </a:xfrm>
          <a:prstGeom prst="line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 userDrawn="1"/>
        </p:nvCxnSpPr>
        <p:spPr bwMode="auto">
          <a:xfrm>
            <a:off x="422856" y="780331"/>
            <a:ext cx="1195392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 userDrawn="1"/>
        </p:nvCxnSpPr>
        <p:spPr bwMode="auto">
          <a:xfrm>
            <a:off x="422853" y="767631"/>
            <a:ext cx="11953931" cy="0"/>
          </a:xfrm>
          <a:prstGeom prst="line">
            <a:avLst/>
          </a:prstGeom>
          <a:ln w="285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 userDrawn="1"/>
        </p:nvCxnSpPr>
        <p:spPr>
          <a:xfrm>
            <a:off x="0" y="7191375"/>
            <a:ext cx="12801600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 userDrawn="1"/>
        </p:nvCxnSpPr>
        <p:spPr bwMode="auto">
          <a:xfrm>
            <a:off x="9790807" y="4763"/>
            <a:ext cx="3005434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5054214" y="6832900"/>
            <a:ext cx="2743200" cy="244341"/>
          </a:xfrm>
          <a:prstGeom prst="rect">
            <a:avLst/>
          </a:prstGeom>
        </p:spPr>
        <p:txBody>
          <a:bodyPr anchor="ctr"/>
          <a:lstStyle>
            <a:lvl1pPr algn="ctr">
              <a:defRPr sz="1200"/>
            </a:lvl1pPr>
          </a:lstStyle>
          <a:p>
            <a:fld id="{EB10617F-29CF-4C22-9ED2-E1F392C1F40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3" name="Picture 2" descr="산림청">
            <a:extLst>
              <a:ext uri="{FF2B5EF4-FFF2-40B4-BE49-F238E27FC236}">
                <a16:creationId xmlns:a16="http://schemas.microsoft.com/office/drawing/2014/main" id="{0FD9CE47-6B4E-4D56-5D7C-E5F9271205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880" y="6824867"/>
            <a:ext cx="758188" cy="287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BE97B00-0A17-F611-281E-4C744F8D6F9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05" r="60450" b="23621"/>
          <a:stretch>
            <a:fillRect/>
          </a:stretch>
        </p:blipFill>
        <p:spPr bwMode="auto">
          <a:xfrm>
            <a:off x="11676790" y="6824867"/>
            <a:ext cx="987114" cy="287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9216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5054214" y="6832900"/>
            <a:ext cx="2743200" cy="244341"/>
          </a:xfrm>
          <a:prstGeom prst="rect">
            <a:avLst/>
          </a:prstGeom>
        </p:spPr>
        <p:txBody>
          <a:bodyPr anchor="ctr"/>
          <a:lstStyle>
            <a:lvl1pPr algn="ctr">
              <a:defRPr sz="1200"/>
            </a:lvl1pPr>
          </a:lstStyle>
          <a:p>
            <a:fld id="{EB10617F-29CF-4C22-9ED2-E1F392C1F40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3" name="Picture 2" descr="산림청">
            <a:extLst>
              <a:ext uri="{FF2B5EF4-FFF2-40B4-BE49-F238E27FC236}">
                <a16:creationId xmlns:a16="http://schemas.microsoft.com/office/drawing/2014/main" id="{2F7FF05D-FEE1-F59D-7AE0-487E44E348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880" y="6799412"/>
            <a:ext cx="758188" cy="287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A1D0B4E9-6D5A-812E-D771-92DCBAE3499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05" r="60450" b="23621"/>
          <a:stretch>
            <a:fillRect/>
          </a:stretch>
        </p:blipFill>
        <p:spPr bwMode="auto">
          <a:xfrm>
            <a:off x="11676790" y="6824867"/>
            <a:ext cx="987114" cy="287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296066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 bwMode="auto">
          <a:xfrm>
            <a:off x="0" y="0"/>
            <a:ext cx="12801600" cy="7200900"/>
          </a:xfrm>
          <a:prstGeom prst="rect">
            <a:avLst/>
          </a:prstGeom>
          <a:solidFill>
            <a:srgbClr val="EAEAEA"/>
          </a:solidFill>
          <a:ln w="28575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" name="직선 연결선 3"/>
          <p:cNvCxnSpPr/>
          <p:nvPr userDrawn="1"/>
        </p:nvCxnSpPr>
        <p:spPr bwMode="auto">
          <a:xfrm>
            <a:off x="0" y="4763"/>
            <a:ext cx="12801600" cy="0"/>
          </a:xfrm>
          <a:prstGeom prst="line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 userDrawn="1"/>
        </p:nvCxnSpPr>
        <p:spPr bwMode="auto">
          <a:xfrm>
            <a:off x="422856" y="780331"/>
            <a:ext cx="1195392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 userDrawn="1"/>
        </p:nvCxnSpPr>
        <p:spPr bwMode="auto">
          <a:xfrm>
            <a:off x="422853" y="767631"/>
            <a:ext cx="11953931" cy="0"/>
          </a:xfrm>
          <a:prstGeom prst="line">
            <a:avLst/>
          </a:prstGeom>
          <a:ln w="285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 userDrawn="1"/>
        </p:nvCxnSpPr>
        <p:spPr bwMode="auto">
          <a:xfrm>
            <a:off x="9790807" y="4763"/>
            <a:ext cx="3005434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5054214" y="6832900"/>
            <a:ext cx="2743200" cy="244341"/>
          </a:xfrm>
          <a:prstGeom prst="rect">
            <a:avLst/>
          </a:prstGeom>
        </p:spPr>
        <p:txBody>
          <a:bodyPr anchor="ctr"/>
          <a:lstStyle>
            <a:lvl1pPr algn="ctr">
              <a:defRPr sz="1200"/>
            </a:lvl1pPr>
          </a:lstStyle>
          <a:p>
            <a:fld id="{EB10617F-29CF-4C22-9ED2-E1F392C1F40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0" y="7191375"/>
            <a:ext cx="12801600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산림청">
            <a:extLst>
              <a:ext uri="{FF2B5EF4-FFF2-40B4-BE49-F238E27FC236}">
                <a16:creationId xmlns:a16="http://schemas.microsoft.com/office/drawing/2014/main" id="{21516696-BA85-89B7-00ED-C89069B97D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880" y="6799412"/>
            <a:ext cx="758188" cy="287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7606DFDF-2F9A-CA4E-2267-948E759183E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05" r="60450" b="23621"/>
          <a:stretch>
            <a:fillRect/>
          </a:stretch>
        </p:blipFill>
        <p:spPr bwMode="auto">
          <a:xfrm>
            <a:off x="11676790" y="6824867"/>
            <a:ext cx="987114" cy="287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3109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직선 연결선 29"/>
          <p:cNvCxnSpPr/>
          <p:nvPr userDrawn="1"/>
        </p:nvCxnSpPr>
        <p:spPr bwMode="auto">
          <a:xfrm>
            <a:off x="0" y="4763"/>
            <a:ext cx="12801600" cy="0"/>
          </a:xfrm>
          <a:prstGeom prst="line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 userDrawn="1"/>
        </p:nvCxnSpPr>
        <p:spPr bwMode="auto">
          <a:xfrm>
            <a:off x="422856" y="780331"/>
            <a:ext cx="1195392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 userDrawn="1"/>
        </p:nvCxnSpPr>
        <p:spPr bwMode="auto">
          <a:xfrm>
            <a:off x="422853" y="767631"/>
            <a:ext cx="11953931" cy="0"/>
          </a:xfrm>
          <a:prstGeom prst="line">
            <a:avLst/>
          </a:prstGeom>
          <a:ln w="285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 userDrawn="1"/>
        </p:nvCxnSpPr>
        <p:spPr>
          <a:xfrm>
            <a:off x="0" y="7191375"/>
            <a:ext cx="12801600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 userDrawn="1"/>
        </p:nvCxnSpPr>
        <p:spPr bwMode="auto">
          <a:xfrm>
            <a:off x="9790807" y="4763"/>
            <a:ext cx="3005434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5054214" y="6832900"/>
            <a:ext cx="2743200" cy="244341"/>
          </a:xfrm>
          <a:prstGeom prst="rect">
            <a:avLst/>
          </a:prstGeom>
        </p:spPr>
        <p:txBody>
          <a:bodyPr anchor="ctr"/>
          <a:lstStyle>
            <a:lvl1pPr algn="ctr">
              <a:defRPr sz="1200"/>
            </a:lvl1pPr>
          </a:lstStyle>
          <a:p>
            <a:fld id="{EB10617F-29CF-4C22-9ED2-E1F392C1F40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3" name="Picture 2" descr="산림청">
            <a:extLst>
              <a:ext uri="{FF2B5EF4-FFF2-40B4-BE49-F238E27FC236}">
                <a16:creationId xmlns:a16="http://schemas.microsoft.com/office/drawing/2014/main" id="{E4EF0F06-D76C-9FBA-B155-641C17DF74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880" y="6799412"/>
            <a:ext cx="758188" cy="287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6D672C02-E2D9-E2CC-78AC-AA6B3AF630E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05" r="60450" b="23621"/>
          <a:stretch>
            <a:fillRect/>
          </a:stretch>
        </p:blipFill>
        <p:spPr bwMode="auto">
          <a:xfrm>
            <a:off x="11676790" y="6824867"/>
            <a:ext cx="987114" cy="287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527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044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9" r:id="rId2"/>
    <p:sldLayoutId id="2147483670" r:id="rId3"/>
    <p:sldLayoutId id="2147483671" r:id="rId4"/>
    <p:sldLayoutId id="2147483672" r:id="rId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699" b="1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699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699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699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699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592447" algn="l" rtl="0" fontAlgn="base">
        <a:spcBef>
          <a:spcPct val="0"/>
        </a:spcBef>
        <a:spcAft>
          <a:spcPct val="0"/>
        </a:spcAft>
        <a:defRPr sz="2602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1184895" algn="l" rtl="0" fontAlgn="base">
        <a:spcBef>
          <a:spcPct val="0"/>
        </a:spcBef>
        <a:spcAft>
          <a:spcPct val="0"/>
        </a:spcAft>
        <a:defRPr sz="2602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777342" algn="l" rtl="0" fontAlgn="base">
        <a:spcBef>
          <a:spcPct val="0"/>
        </a:spcBef>
        <a:spcAft>
          <a:spcPct val="0"/>
        </a:spcAft>
        <a:defRPr sz="2602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2369791" algn="l" rtl="0" fontAlgn="base">
        <a:spcBef>
          <a:spcPct val="0"/>
        </a:spcBef>
        <a:spcAft>
          <a:spcPct val="0"/>
        </a:spcAft>
        <a:defRPr sz="2602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444335" indent="-44433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58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962727" indent="-37028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858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481120" indent="-29622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58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2073567" indent="-29622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858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666015" indent="-29622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858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3258463" indent="-296223" algn="l" defTabSz="1184895" rtl="0" eaLnBrk="1" latinLnBrk="0" hangingPunct="1">
        <a:spcBef>
          <a:spcPct val="20000"/>
        </a:spcBef>
        <a:buFont typeface="Arial" pitchFamily="34" charset="0"/>
        <a:buChar char="•"/>
        <a:defRPr sz="2602" kern="1200">
          <a:solidFill>
            <a:schemeClr val="tx1"/>
          </a:solidFill>
          <a:latin typeface="+mn-lt"/>
          <a:ea typeface="+mn-ea"/>
          <a:cs typeface="+mn-cs"/>
        </a:defRPr>
      </a:lvl6pPr>
      <a:lvl7pPr marL="3850910" indent="-296223" algn="l" defTabSz="1184895" rtl="0" eaLnBrk="1" latinLnBrk="0" hangingPunct="1">
        <a:spcBef>
          <a:spcPct val="20000"/>
        </a:spcBef>
        <a:buFont typeface="Arial" pitchFamily="34" charset="0"/>
        <a:buChar char="•"/>
        <a:defRPr sz="2602" kern="1200">
          <a:solidFill>
            <a:schemeClr val="tx1"/>
          </a:solidFill>
          <a:latin typeface="+mn-lt"/>
          <a:ea typeface="+mn-ea"/>
          <a:cs typeface="+mn-cs"/>
        </a:defRPr>
      </a:lvl7pPr>
      <a:lvl8pPr marL="4443358" indent="-296223" algn="l" defTabSz="1184895" rtl="0" eaLnBrk="1" latinLnBrk="0" hangingPunct="1">
        <a:spcBef>
          <a:spcPct val="20000"/>
        </a:spcBef>
        <a:buFont typeface="Arial" pitchFamily="34" charset="0"/>
        <a:buChar char="•"/>
        <a:defRPr sz="2602" kern="1200">
          <a:solidFill>
            <a:schemeClr val="tx1"/>
          </a:solidFill>
          <a:latin typeface="+mn-lt"/>
          <a:ea typeface="+mn-ea"/>
          <a:cs typeface="+mn-cs"/>
        </a:defRPr>
      </a:lvl8pPr>
      <a:lvl9pPr marL="5035806" indent="-296223" algn="l" defTabSz="1184895" rtl="0" eaLnBrk="1" latinLnBrk="0" hangingPunct="1">
        <a:spcBef>
          <a:spcPct val="20000"/>
        </a:spcBef>
        <a:buFont typeface="Arial" pitchFamily="34" charset="0"/>
        <a:buChar char="•"/>
        <a:defRPr sz="26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4895" rtl="0" eaLnBrk="1" latinLnBrk="0" hangingPunct="1">
        <a:defRPr sz="2354" kern="1200">
          <a:solidFill>
            <a:schemeClr val="tx1"/>
          </a:solidFill>
          <a:latin typeface="+mn-lt"/>
          <a:ea typeface="+mn-ea"/>
          <a:cs typeface="+mn-cs"/>
        </a:defRPr>
      </a:lvl1pPr>
      <a:lvl2pPr marL="592447" algn="l" defTabSz="1184895" rtl="0" eaLnBrk="1" latinLnBrk="0" hangingPunct="1">
        <a:defRPr sz="2354" kern="1200">
          <a:solidFill>
            <a:schemeClr val="tx1"/>
          </a:solidFill>
          <a:latin typeface="+mn-lt"/>
          <a:ea typeface="+mn-ea"/>
          <a:cs typeface="+mn-cs"/>
        </a:defRPr>
      </a:lvl2pPr>
      <a:lvl3pPr marL="1184895" algn="l" defTabSz="1184895" rtl="0" eaLnBrk="1" latinLnBrk="0" hangingPunct="1">
        <a:defRPr sz="2354" kern="1200">
          <a:solidFill>
            <a:schemeClr val="tx1"/>
          </a:solidFill>
          <a:latin typeface="+mn-lt"/>
          <a:ea typeface="+mn-ea"/>
          <a:cs typeface="+mn-cs"/>
        </a:defRPr>
      </a:lvl3pPr>
      <a:lvl4pPr marL="1777342" algn="l" defTabSz="1184895" rtl="0" eaLnBrk="1" latinLnBrk="0" hangingPunct="1">
        <a:defRPr sz="2354" kern="1200">
          <a:solidFill>
            <a:schemeClr val="tx1"/>
          </a:solidFill>
          <a:latin typeface="+mn-lt"/>
          <a:ea typeface="+mn-ea"/>
          <a:cs typeface="+mn-cs"/>
        </a:defRPr>
      </a:lvl4pPr>
      <a:lvl5pPr marL="2369791" algn="l" defTabSz="1184895" rtl="0" eaLnBrk="1" latinLnBrk="0" hangingPunct="1">
        <a:defRPr sz="2354" kern="1200">
          <a:solidFill>
            <a:schemeClr val="tx1"/>
          </a:solidFill>
          <a:latin typeface="+mn-lt"/>
          <a:ea typeface="+mn-ea"/>
          <a:cs typeface="+mn-cs"/>
        </a:defRPr>
      </a:lvl5pPr>
      <a:lvl6pPr marL="2962237" algn="l" defTabSz="1184895" rtl="0" eaLnBrk="1" latinLnBrk="0" hangingPunct="1">
        <a:defRPr sz="2354" kern="1200">
          <a:solidFill>
            <a:schemeClr val="tx1"/>
          </a:solidFill>
          <a:latin typeface="+mn-lt"/>
          <a:ea typeface="+mn-ea"/>
          <a:cs typeface="+mn-cs"/>
        </a:defRPr>
      </a:lvl6pPr>
      <a:lvl7pPr marL="3554687" algn="l" defTabSz="1184895" rtl="0" eaLnBrk="1" latinLnBrk="0" hangingPunct="1">
        <a:defRPr sz="2354" kern="1200">
          <a:solidFill>
            <a:schemeClr val="tx1"/>
          </a:solidFill>
          <a:latin typeface="+mn-lt"/>
          <a:ea typeface="+mn-ea"/>
          <a:cs typeface="+mn-cs"/>
        </a:defRPr>
      </a:lvl7pPr>
      <a:lvl8pPr marL="4147134" algn="l" defTabSz="1184895" rtl="0" eaLnBrk="1" latinLnBrk="0" hangingPunct="1">
        <a:defRPr sz="2354" kern="1200">
          <a:solidFill>
            <a:schemeClr val="tx1"/>
          </a:solidFill>
          <a:latin typeface="+mn-lt"/>
          <a:ea typeface="+mn-ea"/>
          <a:cs typeface="+mn-cs"/>
        </a:defRPr>
      </a:lvl8pPr>
      <a:lvl9pPr marL="4739582" algn="l" defTabSz="1184895" rtl="0" eaLnBrk="1" latinLnBrk="0" hangingPunct="1">
        <a:defRPr sz="23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6"/>
          <p:cNvSpPr txBox="1"/>
          <p:nvPr/>
        </p:nvSpPr>
        <p:spPr>
          <a:xfrm>
            <a:off x="1494212" y="2166642"/>
            <a:ext cx="10707210" cy="549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2973" b="1" dirty="0">
                <a:ln>
                  <a:solidFill>
                    <a:schemeClr val="bg1">
                      <a:alpha val="10000"/>
                    </a:schemeClr>
                  </a:solidFill>
                </a:ln>
                <a:latin typeface="+mn-ea"/>
              </a:rPr>
              <a:t>산림공간 디지털 플랫폼 구축 사업</a:t>
            </a:r>
          </a:p>
        </p:txBody>
      </p:sp>
      <p:sp>
        <p:nvSpPr>
          <p:cNvPr id="9" name="TextBox 6"/>
          <p:cNvSpPr txBox="1"/>
          <p:nvPr/>
        </p:nvSpPr>
        <p:spPr>
          <a:xfrm>
            <a:off x="600174" y="2947968"/>
            <a:ext cx="11601248" cy="626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 defTabSz="1223300"/>
            <a:r>
              <a:rPr lang="en-US" altLang="ko-KR" sz="2400" b="1" dirty="0">
                <a:ln>
                  <a:solidFill>
                    <a:srgbClr val="FFFFFF">
                      <a:alpha val="10000"/>
                    </a:srgbClr>
                  </a:solidFill>
                </a:ln>
              </a:rPr>
              <a:t>(</a:t>
            </a:r>
            <a:r>
              <a:rPr lang="ko-KR" altLang="en-US" sz="2400" b="1" dirty="0">
                <a:ln>
                  <a:solidFill>
                    <a:srgbClr val="FFFFFF">
                      <a:alpha val="10000"/>
                    </a:srgbClr>
                  </a:solidFill>
                </a:ln>
              </a:rPr>
              <a:t>산림청</a:t>
            </a:r>
            <a:r>
              <a:rPr lang="en-US" altLang="ko-KR" sz="2400" b="1" dirty="0">
                <a:ln>
                  <a:solidFill>
                    <a:srgbClr val="FFFFFF">
                      <a:alpha val="10000"/>
                    </a:srgbClr>
                  </a:solidFill>
                </a:ln>
              </a:rPr>
              <a:t>&amp;</a:t>
            </a:r>
            <a:r>
              <a:rPr lang="ko-KR" altLang="en-US" sz="2400" b="1" dirty="0" err="1">
                <a:ln>
                  <a:solidFill>
                    <a:srgbClr val="FFFFFF">
                      <a:alpha val="10000"/>
                    </a:srgbClr>
                  </a:solidFill>
                </a:ln>
              </a:rPr>
              <a:t>국자원</a:t>
            </a:r>
            <a:r>
              <a:rPr lang="en-US" altLang="ko-KR" sz="2400" b="1" dirty="0">
                <a:ln>
                  <a:solidFill>
                    <a:srgbClr val="FFFFFF">
                      <a:alpha val="10000"/>
                    </a:srgbClr>
                  </a:solidFill>
                </a:ln>
              </a:rPr>
              <a:t>)</a:t>
            </a:r>
            <a:r>
              <a:rPr lang="en-US" altLang="ko-KR" sz="3469" b="1" dirty="0">
                <a:ln>
                  <a:solidFill>
                    <a:srgbClr val="FFFFFF">
                      <a:alpha val="10000"/>
                    </a:srgbClr>
                  </a:solidFill>
                </a:ln>
              </a:rPr>
              <a:t> G-</a:t>
            </a:r>
            <a:r>
              <a:rPr lang="ko-KR" altLang="en-US" sz="3469" b="1" dirty="0">
                <a:ln>
                  <a:solidFill>
                    <a:srgbClr val="FFFFFF">
                      <a:alpha val="10000"/>
                    </a:srgbClr>
                  </a:solidFill>
                </a:ln>
              </a:rPr>
              <a:t>클라우드 업무협의 및 기술검토</a:t>
            </a:r>
            <a:r>
              <a:rPr lang="en-US" altLang="ko-KR" sz="3469" b="1" dirty="0">
                <a:ln>
                  <a:solidFill>
                    <a:srgbClr val="FFFFFF">
                      <a:alpha val="10000"/>
                    </a:srgbClr>
                  </a:solidFill>
                </a:ln>
              </a:rPr>
              <a:t>(</a:t>
            </a:r>
            <a:r>
              <a:rPr lang="ko-KR" altLang="en-US" sz="3469" b="1" dirty="0">
                <a:ln>
                  <a:solidFill>
                    <a:srgbClr val="FFFFFF">
                      <a:alpha val="10000"/>
                    </a:srgbClr>
                  </a:solidFill>
                </a:ln>
              </a:rPr>
              <a:t>안</a:t>
            </a:r>
            <a:r>
              <a:rPr lang="en-US" altLang="ko-KR" sz="3469" b="1" dirty="0">
                <a:ln>
                  <a:solidFill>
                    <a:srgbClr val="FFFFFF">
                      <a:alpha val="10000"/>
                    </a:srgbClr>
                  </a:solidFill>
                </a:ln>
              </a:rPr>
              <a:t>)</a:t>
            </a:r>
          </a:p>
        </p:txBody>
      </p:sp>
      <p:grpSp>
        <p:nvGrpSpPr>
          <p:cNvPr id="10" name="그룹 9"/>
          <p:cNvGrpSpPr>
            <a:grpSpLocks/>
          </p:cNvGrpSpPr>
          <p:nvPr/>
        </p:nvGrpSpPr>
        <p:grpSpPr bwMode="auto">
          <a:xfrm>
            <a:off x="3902900" y="2748488"/>
            <a:ext cx="8494840" cy="209037"/>
            <a:chOff x="0" y="0"/>
            <a:chExt cx="4176166" cy="216024"/>
          </a:xfrm>
        </p:grpSpPr>
        <p:pic>
          <p:nvPicPr>
            <p:cNvPr id="11" name="Picture 33" descr="shadow"/>
            <p:cNvPicPr>
              <a:picLocks noChangeAspect="1" noChangeArrowheads="1"/>
            </p:cNvPicPr>
            <p:nvPr/>
          </p:nvPicPr>
          <p:blipFill>
            <a:blip r:embed="rId2" cstate="print">
              <a:lum bright="-40000"/>
            </a:blip>
            <a:srcRect/>
            <a:stretch>
              <a:fillRect/>
            </a:stretch>
          </p:blipFill>
          <p:spPr bwMode="auto">
            <a:xfrm rot="10800000">
              <a:off x="0" y="0"/>
              <a:ext cx="4176166" cy="2160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" name="Picture 33" descr="shadow"/>
            <p:cNvPicPr>
              <a:picLocks noChangeAspect="1" noChangeArrowheads="1"/>
            </p:cNvPicPr>
            <p:nvPr/>
          </p:nvPicPr>
          <p:blipFill>
            <a:blip r:embed="rId2" cstate="print">
              <a:lum bright="-40000"/>
            </a:blip>
            <a:srcRect/>
            <a:stretch>
              <a:fillRect/>
            </a:stretch>
          </p:blipFill>
          <p:spPr bwMode="auto">
            <a:xfrm rot="10800000">
              <a:off x="0" y="0"/>
              <a:ext cx="4176166" cy="2160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9465597" y="4573345"/>
            <a:ext cx="2735829" cy="980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18485" tIns="59243" rIns="118485" bIns="59243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 defTabSz="1223300"/>
            <a:r>
              <a:rPr lang="en-US" altLang="ko-KR" sz="1858" dirty="0">
                <a:ln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/>
                </a:solidFill>
              </a:rPr>
              <a:t>2025.11.05</a:t>
            </a:r>
          </a:p>
        </p:txBody>
      </p:sp>
      <p:pic>
        <p:nvPicPr>
          <p:cNvPr id="5" name="Picture 2" descr="산림청">
            <a:extLst>
              <a:ext uri="{FF2B5EF4-FFF2-40B4-BE49-F238E27FC236}">
                <a16:creationId xmlns:a16="http://schemas.microsoft.com/office/drawing/2014/main" id="{CF5D4992-212A-261C-2499-0985DEDA9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22" y="203567"/>
            <a:ext cx="1181100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FD9696BE-A215-948E-CB69-DF78E9DEE9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05" r="60450" b="23621"/>
          <a:stretch>
            <a:fillRect/>
          </a:stretch>
        </p:blipFill>
        <p:spPr bwMode="auto">
          <a:xfrm>
            <a:off x="10966450" y="6435869"/>
            <a:ext cx="1431290" cy="416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6629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E3D23-961B-A31B-F1EE-69549F932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7D1764D-3A16-1DCC-3F6F-17E6E491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0617F-29CF-4C22-9ED2-E1F392C1F401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88" name="제목 2">
            <a:extLst>
              <a:ext uri="{FF2B5EF4-FFF2-40B4-BE49-F238E27FC236}">
                <a16:creationId xmlns:a16="http://schemas.microsoft.com/office/drawing/2014/main" id="{789AE542-E14A-ED73-2B23-A7DD5127A32C}"/>
              </a:ext>
            </a:extLst>
          </p:cNvPr>
          <p:cNvSpPr txBox="1">
            <a:spLocks/>
          </p:cNvSpPr>
          <p:nvPr/>
        </p:nvSpPr>
        <p:spPr>
          <a:xfrm>
            <a:off x="422854" y="171738"/>
            <a:ext cx="11953929" cy="476124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592447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1184895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777342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2369791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400" latinLnBrk="0"/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1. 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플랫폼 구성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안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) As-Is</a:t>
            </a:r>
            <a:endParaRPr lang="ko-KR" altLang="en-US" sz="2800" spc="-123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모서리가 둥근 직사각형 14">
            <a:extLst>
              <a:ext uri="{FF2B5EF4-FFF2-40B4-BE49-F238E27FC236}">
                <a16:creationId xmlns:a16="http://schemas.microsoft.com/office/drawing/2014/main" id="{0EF30C5D-59EE-0C32-3B48-F48EDF99EE22}"/>
              </a:ext>
            </a:extLst>
          </p:cNvPr>
          <p:cNvSpPr/>
          <p:nvPr/>
        </p:nvSpPr>
        <p:spPr bwMode="auto">
          <a:xfrm>
            <a:off x="7672740" y="1587500"/>
            <a:ext cx="2113106" cy="4914900"/>
          </a:xfrm>
          <a:prstGeom prst="roundRect">
            <a:avLst>
              <a:gd name="adj" fmla="val 6020"/>
            </a:avLst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8" name="Picture 4">
            <a:extLst>
              <a:ext uri="{FF2B5EF4-FFF2-40B4-BE49-F238E27FC236}">
                <a16:creationId xmlns:a16="http://schemas.microsoft.com/office/drawing/2014/main" id="{8F11877B-DE49-27D6-8715-00C5820163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4" t="27942" r="78219" b="32087"/>
          <a:stretch>
            <a:fillRect/>
          </a:stretch>
        </p:blipFill>
        <p:spPr bwMode="auto">
          <a:xfrm>
            <a:off x="11371800" y="1996901"/>
            <a:ext cx="770636" cy="498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8117A4C-C3F6-EC9E-8F7B-3CC639CBA1A9}"/>
              </a:ext>
            </a:extLst>
          </p:cNvPr>
          <p:cNvCxnSpPr>
            <a:cxnSpLocks/>
          </p:cNvCxnSpPr>
          <p:nvPr/>
        </p:nvCxnSpPr>
        <p:spPr>
          <a:xfrm>
            <a:off x="11174055" y="915337"/>
            <a:ext cx="0" cy="6041747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69A0E01-B4B0-C109-080A-D43AD7B4BB5B}"/>
              </a:ext>
            </a:extLst>
          </p:cNvPr>
          <p:cNvSpPr/>
          <p:nvPr/>
        </p:nvSpPr>
        <p:spPr>
          <a:xfrm>
            <a:off x="422854" y="921743"/>
            <a:ext cx="10580215" cy="19148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G-</a:t>
            </a:r>
            <a:r>
              <a:rPr lang="ko-KR" altLang="en-US" sz="1100" dirty="0"/>
              <a:t>클라우드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430EFF-87ED-97B4-C543-9848A4CB429C}"/>
              </a:ext>
            </a:extLst>
          </p:cNvPr>
          <p:cNvSpPr txBox="1"/>
          <p:nvPr/>
        </p:nvSpPr>
        <p:spPr>
          <a:xfrm>
            <a:off x="11433952" y="1711934"/>
            <a:ext cx="646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인터넷</a:t>
            </a:r>
          </a:p>
        </p:txBody>
      </p:sp>
      <p:sp>
        <p:nvSpPr>
          <p:cNvPr id="31" name="모서리가 둥근 직사각형 14">
            <a:extLst>
              <a:ext uri="{FF2B5EF4-FFF2-40B4-BE49-F238E27FC236}">
                <a16:creationId xmlns:a16="http://schemas.microsoft.com/office/drawing/2014/main" id="{B26ED77C-DB91-D133-D33D-703841FA7889}"/>
              </a:ext>
            </a:extLst>
          </p:cNvPr>
          <p:cNvSpPr/>
          <p:nvPr/>
        </p:nvSpPr>
        <p:spPr bwMode="auto">
          <a:xfrm>
            <a:off x="1156496" y="1587500"/>
            <a:ext cx="6360540" cy="4914900"/>
          </a:xfrm>
          <a:prstGeom prst="roundRect">
            <a:avLst>
              <a:gd name="adj" fmla="val 3404"/>
            </a:avLst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DCE4FD3F-B4A1-6110-CEDF-794EBA565B41}"/>
              </a:ext>
            </a:extLst>
          </p:cNvPr>
          <p:cNvGrpSpPr/>
          <p:nvPr/>
        </p:nvGrpSpPr>
        <p:grpSpPr>
          <a:xfrm>
            <a:off x="7146368" y="6032372"/>
            <a:ext cx="897041" cy="332043"/>
            <a:chOff x="10134522" y="212106"/>
            <a:chExt cx="897041" cy="332043"/>
          </a:xfrm>
        </p:grpSpPr>
        <p:pic>
          <p:nvPicPr>
            <p:cNvPr id="36" name="Picture 3">
              <a:extLst>
                <a:ext uri="{FF2B5EF4-FFF2-40B4-BE49-F238E27FC236}">
                  <a16:creationId xmlns:a16="http://schemas.microsoft.com/office/drawing/2014/main" id="{F3D16C30-032C-30E6-6BAF-60A979D4DA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34522" y="275450"/>
              <a:ext cx="897041" cy="2686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7" name="object 98">
              <a:extLst>
                <a:ext uri="{FF2B5EF4-FFF2-40B4-BE49-F238E27FC236}">
                  <a16:creationId xmlns:a16="http://schemas.microsoft.com/office/drawing/2014/main" id="{8345A5B2-5D3A-034A-2D3A-7A609DEA7182}"/>
                </a:ext>
              </a:extLst>
            </p:cNvPr>
            <p:cNvSpPr txBox="1"/>
            <p:nvPr/>
          </p:nvSpPr>
          <p:spPr>
            <a:xfrm>
              <a:off x="10248822" y="212106"/>
              <a:ext cx="660444" cy="197693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marL="12700" marR="0" lvl="0" indent="0" algn="ctr" defTabSz="914400" rtl="0" eaLnBrk="1" fontAlgn="auto" latinLnBrk="1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UnDinaru"/>
                </a:rPr>
                <a:t>망연계시스템</a:t>
              </a:r>
              <a:endParaRPr kumimoji="0" sz="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UnDinaru"/>
              </a:endParaRPr>
            </a:p>
          </p:txBody>
        </p:sp>
      </p:grpSp>
      <p:sp>
        <p:nvSpPr>
          <p:cNvPr id="39" name="object 98">
            <a:extLst>
              <a:ext uri="{FF2B5EF4-FFF2-40B4-BE49-F238E27FC236}">
                <a16:creationId xmlns:a16="http://schemas.microsoft.com/office/drawing/2014/main" id="{0C542480-1397-0B59-BBE9-6960923177A6}"/>
              </a:ext>
            </a:extLst>
          </p:cNvPr>
          <p:cNvSpPr txBox="1"/>
          <p:nvPr/>
        </p:nvSpPr>
        <p:spPr>
          <a:xfrm>
            <a:off x="9603873" y="1226715"/>
            <a:ext cx="704039" cy="391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>
                <a:latin typeface="프리젠테이션 5 Medium" pitchFamily="2" charset="-127"/>
                <a:ea typeface="프리젠테이션 5 Medium" pitchFamily="2" charset="-127"/>
              </a:defRPr>
            </a:lvl1pPr>
          </a:lstStyle>
          <a:p>
            <a:r>
              <a:rPr lang="en-US" altLang="ko-KR" dirty="0"/>
              <a:t>DMZ</a:t>
            </a:r>
            <a:endParaRPr dirty="0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A1BB0996-D544-9B1B-7274-3F35F7F6015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5298" y="2906233"/>
            <a:ext cx="200986" cy="292934"/>
          </a:xfrm>
          <a:prstGeom prst="rect">
            <a:avLst/>
          </a:prstGeom>
        </p:spPr>
      </p:pic>
      <p:sp>
        <p:nvSpPr>
          <p:cNvPr id="42" name="object 98">
            <a:extLst>
              <a:ext uri="{FF2B5EF4-FFF2-40B4-BE49-F238E27FC236}">
                <a16:creationId xmlns:a16="http://schemas.microsoft.com/office/drawing/2014/main" id="{F79730BD-893D-7BB8-1B7B-ED01D3E319A6}"/>
              </a:ext>
            </a:extLst>
          </p:cNvPr>
          <p:cNvSpPr txBox="1"/>
          <p:nvPr/>
        </p:nvSpPr>
        <p:spPr>
          <a:xfrm>
            <a:off x="9890038" y="2645610"/>
            <a:ext cx="935634" cy="36015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marR="0" lvl="0" indent="0" algn="ctr" defTabSz="914400" rtl="0" eaLnBrk="1" fontAlgn="auto" latinLnBrk="1" hangingPunct="1">
              <a:lnSpc>
                <a:spcPts val="7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UnDinaru"/>
              </a:rPr>
              <a:t>Web(</a:t>
            </a:r>
            <a:r>
              <a:rPr kumimoji="0" lang="ko-KR" altLang="en-US" sz="1000" b="0" i="0" u="none" strike="noStrike" kern="1200" cap="none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UnDinaru"/>
              </a:rPr>
              <a:t>외부</a:t>
            </a:r>
            <a:r>
              <a:rPr kumimoji="0" lang="en-US" altLang="ko-KR" sz="1000" b="0" i="0" u="none" strike="noStrike" kern="1200" cap="none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UnDinaru"/>
              </a:rPr>
              <a:t>)</a:t>
            </a:r>
          </a:p>
          <a:p>
            <a:pPr algn="ctr" defTabSz="914400">
              <a:lnSpc>
                <a:spcPts val="720"/>
              </a:lnSpc>
              <a:defRPr/>
            </a:pP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  <a:cs typeface="UnDinaru"/>
              </a:rPr>
              <a:t>Proxy</a:t>
            </a:r>
          </a:p>
          <a:p>
            <a:pPr marR="0" lvl="0" indent="0" algn="ctr" defTabSz="914400" rtl="0" eaLnBrk="1" fontAlgn="auto" latinLnBrk="1" hangingPunct="1">
              <a:lnSpc>
                <a:spcPts val="7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1200" cap="none" normalizeH="0" baseline="0" noProof="0" dirty="0">
              <a:ln>
                <a:noFill/>
              </a:ln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UnDinaru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D96EFCA1-9AA6-556F-7311-6447B9C7D9C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5298" y="4443821"/>
            <a:ext cx="200986" cy="292934"/>
          </a:xfrm>
          <a:prstGeom prst="rect">
            <a:avLst/>
          </a:prstGeom>
        </p:spPr>
      </p:pic>
      <p:sp>
        <p:nvSpPr>
          <p:cNvPr id="45" name="object 98">
            <a:extLst>
              <a:ext uri="{FF2B5EF4-FFF2-40B4-BE49-F238E27FC236}">
                <a16:creationId xmlns:a16="http://schemas.microsoft.com/office/drawing/2014/main" id="{C666C71A-AE05-096A-2D3C-5A46BB6B8CE4}"/>
              </a:ext>
            </a:extLst>
          </p:cNvPr>
          <p:cNvSpPr txBox="1"/>
          <p:nvPr/>
        </p:nvSpPr>
        <p:spPr>
          <a:xfrm>
            <a:off x="9988876" y="4789731"/>
            <a:ext cx="786256" cy="27643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marR="0" lvl="0" indent="0" algn="ctr" defTabSz="914400" rtl="0" eaLnBrk="1" fontAlgn="auto" latinLnBrk="1" hangingPunct="1">
              <a:lnSpc>
                <a:spcPts val="7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normalizeH="0" baseline="0" noProof="0" dirty="0" err="1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UnDinaru"/>
              </a:rPr>
              <a:t>연계서버</a:t>
            </a:r>
            <a:endParaRPr kumimoji="0" lang="en-US" altLang="ko-KR" sz="1000" b="0" i="0" u="none" strike="noStrike" kern="1200" cap="none" normalizeH="0" baseline="0" noProof="0" dirty="0">
              <a:ln>
                <a:noFill/>
              </a:ln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UnDinaru"/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AB3666C4-BC78-06D2-80AB-AA6E0BF13AB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2738" y="2906233"/>
            <a:ext cx="269100" cy="248672"/>
          </a:xfrm>
          <a:prstGeom prst="rect">
            <a:avLst/>
          </a:prstGeom>
        </p:spPr>
      </p:pic>
      <p:sp>
        <p:nvSpPr>
          <p:cNvPr id="48" name="Text Box 944">
            <a:extLst>
              <a:ext uri="{FF2B5EF4-FFF2-40B4-BE49-F238E27FC236}">
                <a16:creationId xmlns:a16="http://schemas.microsoft.com/office/drawing/2014/main" id="{4E1EE715-77A7-98CF-AD07-80DFC786378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0677474" y="2695484"/>
            <a:ext cx="604591" cy="260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noAutofit/>
          </a:bodyPr>
          <a:lstStyle>
            <a:lvl1pPr eaLnBrk="0" hangingPunct="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방화벽</a:t>
            </a: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440AED45-A7F3-0A60-4310-B1A73A47B77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550" y="3878639"/>
            <a:ext cx="269100" cy="248672"/>
          </a:xfrm>
          <a:prstGeom prst="rect">
            <a:avLst/>
          </a:prstGeom>
        </p:spPr>
      </p:pic>
      <p:sp>
        <p:nvSpPr>
          <p:cNvPr id="54" name="Text Box 944">
            <a:extLst>
              <a:ext uri="{FF2B5EF4-FFF2-40B4-BE49-F238E27FC236}">
                <a16:creationId xmlns:a16="http://schemas.microsoft.com/office/drawing/2014/main" id="{93067D4A-80A3-3357-CA88-AA4ECD88CD0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9882629" y="4131255"/>
            <a:ext cx="386943" cy="179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noAutofit/>
          </a:bodyPr>
          <a:lstStyle>
            <a:lvl1pPr eaLnBrk="0" hangingPunct="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방화벽</a:t>
            </a:r>
          </a:p>
        </p:txBody>
      </p:sp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35E71ABA-A032-75F4-C503-953A1211D73B}"/>
              </a:ext>
            </a:extLst>
          </p:cNvPr>
          <p:cNvCxnSpPr>
            <a:cxnSpLocks/>
            <a:stCxn id="41" idx="2"/>
            <a:endCxn id="44" idx="0"/>
          </p:cNvCxnSpPr>
          <p:nvPr/>
        </p:nvCxnSpPr>
        <p:spPr>
          <a:xfrm rot="5400000">
            <a:off x="9773464" y="3821494"/>
            <a:ext cx="1244654" cy="12700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F697705C-6C2A-5148-316F-B68788C7A7A1}"/>
              </a:ext>
            </a:extLst>
          </p:cNvPr>
          <p:cNvCxnSpPr>
            <a:cxnSpLocks/>
            <a:stCxn id="18" idx="2"/>
            <a:endCxn id="41" idx="3"/>
          </p:cNvCxnSpPr>
          <p:nvPr/>
        </p:nvCxnSpPr>
        <p:spPr>
          <a:xfrm rot="5400000">
            <a:off x="10847926" y="2143507"/>
            <a:ext cx="557551" cy="1260834"/>
          </a:xfrm>
          <a:prstGeom prst="bentConnector2">
            <a:avLst/>
          </a:prstGeom>
          <a:ln w="19050" cap="flat" cmpd="sng" algn="ctr">
            <a:solidFill>
              <a:schemeClr val="accent1"/>
            </a:solidFill>
            <a:prstDash val="sysDash"/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모서리가 둥근 직사각형 14">
            <a:extLst>
              <a:ext uri="{FF2B5EF4-FFF2-40B4-BE49-F238E27FC236}">
                <a16:creationId xmlns:a16="http://schemas.microsoft.com/office/drawing/2014/main" id="{502C65EC-489B-08FA-7068-54B9EF9A1F42}"/>
              </a:ext>
            </a:extLst>
          </p:cNvPr>
          <p:cNvSpPr/>
          <p:nvPr/>
        </p:nvSpPr>
        <p:spPr bwMode="auto">
          <a:xfrm>
            <a:off x="10045742" y="1587500"/>
            <a:ext cx="683209" cy="4914900"/>
          </a:xfrm>
          <a:prstGeom prst="roundRect">
            <a:avLst>
              <a:gd name="adj" fmla="val 6020"/>
            </a:avLst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A217F2F3-7E80-EA71-E146-883081599652}"/>
              </a:ext>
            </a:extLst>
          </p:cNvPr>
          <p:cNvCxnSpPr>
            <a:cxnSpLocks/>
            <a:stCxn id="44" idx="1"/>
            <a:endCxn id="12" idx="3"/>
          </p:cNvCxnSpPr>
          <p:nvPr/>
        </p:nvCxnSpPr>
        <p:spPr>
          <a:xfrm rot="10800000">
            <a:off x="9785846" y="4044950"/>
            <a:ext cx="509452" cy="545338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1"/>
            </a:solidFill>
            <a:prstDash val="sysDash"/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5C2508EF-F21B-E319-6D6E-A915F77FAFEB}"/>
              </a:ext>
            </a:extLst>
          </p:cNvPr>
          <p:cNvSpPr txBox="1"/>
          <p:nvPr/>
        </p:nvSpPr>
        <p:spPr>
          <a:xfrm>
            <a:off x="1156496" y="1226715"/>
            <a:ext cx="1130438" cy="391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행정서비스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CF5CABF-A59C-5943-C7F8-5C203619FB8A}"/>
              </a:ext>
            </a:extLst>
          </p:cNvPr>
          <p:cNvSpPr txBox="1"/>
          <p:nvPr/>
        </p:nvSpPr>
        <p:spPr>
          <a:xfrm>
            <a:off x="7672740" y="1220306"/>
            <a:ext cx="1130438" cy="391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대민서비스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E886D811-B79C-3E37-A8E0-DFB42226ABF1}"/>
              </a:ext>
            </a:extLst>
          </p:cNvPr>
          <p:cNvSpPr txBox="1"/>
          <p:nvPr/>
        </p:nvSpPr>
        <p:spPr>
          <a:xfrm>
            <a:off x="372713" y="1711934"/>
            <a:ext cx="646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행망</a:t>
            </a:r>
          </a:p>
        </p:txBody>
      </p:sp>
      <p:cxnSp>
        <p:nvCxnSpPr>
          <p:cNvPr id="1072" name="연결선: 꺾임 1071">
            <a:extLst>
              <a:ext uri="{FF2B5EF4-FFF2-40B4-BE49-F238E27FC236}">
                <a16:creationId xmlns:a16="http://schemas.microsoft.com/office/drawing/2014/main" id="{2B61EE4E-1453-6045-7DA7-07BAAC48F109}"/>
              </a:ext>
            </a:extLst>
          </p:cNvPr>
          <p:cNvCxnSpPr>
            <a:cxnSpLocks/>
            <a:stCxn id="1076" idx="2"/>
            <a:endCxn id="31" idx="1"/>
          </p:cNvCxnSpPr>
          <p:nvPr/>
        </p:nvCxnSpPr>
        <p:spPr>
          <a:xfrm rot="16200000" flipH="1">
            <a:off x="142642" y="3031095"/>
            <a:ext cx="1549801" cy="477907"/>
          </a:xfrm>
          <a:prstGeom prst="bentConnector2">
            <a:avLst/>
          </a:prstGeom>
          <a:ln w="19050" cap="flat" cmpd="sng" algn="ctr">
            <a:solidFill>
              <a:schemeClr val="accent1"/>
            </a:solidFill>
            <a:prstDash val="sysDash"/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76" name="Picture 4">
            <a:extLst>
              <a:ext uri="{FF2B5EF4-FFF2-40B4-BE49-F238E27FC236}">
                <a16:creationId xmlns:a16="http://schemas.microsoft.com/office/drawing/2014/main" id="{097CAF46-B5C4-C0DC-6EFF-FE580F4B2D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4" t="27942" r="78219" b="32087"/>
          <a:stretch>
            <a:fillRect/>
          </a:stretch>
        </p:blipFill>
        <p:spPr bwMode="auto">
          <a:xfrm>
            <a:off x="293271" y="1996901"/>
            <a:ext cx="770636" cy="498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B4E0DAF-29E8-1EE8-ED60-4E327F2220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4583" y="1965079"/>
            <a:ext cx="1915379" cy="2461447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7DC2333C-69A1-E1BE-0ADE-2EB66A8F07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4583" y="4734695"/>
            <a:ext cx="1914308" cy="660107"/>
          </a:xfrm>
          <a:prstGeom prst="rect">
            <a:avLst/>
          </a:prstGeom>
        </p:spPr>
      </p:pic>
      <p:pic>
        <p:nvPicPr>
          <p:cNvPr id="43" name="Picture 2">
            <a:extLst>
              <a:ext uri="{FF2B5EF4-FFF2-40B4-BE49-F238E27FC236}">
                <a16:creationId xmlns:a16="http://schemas.microsoft.com/office/drawing/2014/main" id="{E368953B-7E85-22E4-3FA8-34E17D5E92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145" t="49497" b="11173"/>
          <a:stretch>
            <a:fillRect/>
          </a:stretch>
        </p:blipFill>
        <p:spPr bwMode="auto">
          <a:xfrm>
            <a:off x="8100275" y="5496718"/>
            <a:ext cx="404851" cy="590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>
            <a:extLst>
              <a:ext uri="{FF2B5EF4-FFF2-40B4-BE49-F238E27FC236}">
                <a16:creationId xmlns:a16="http://schemas.microsoft.com/office/drawing/2014/main" id="{DD8143E1-C33B-E26A-36A4-D6C7E87CAB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145" t="49497" b="11173"/>
          <a:stretch>
            <a:fillRect/>
          </a:stretch>
        </p:blipFill>
        <p:spPr bwMode="auto">
          <a:xfrm>
            <a:off x="8645222" y="5490309"/>
            <a:ext cx="404851" cy="590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B7D2343-82D9-E331-3BE6-95B649B1FD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34802" y="5460034"/>
            <a:ext cx="442011" cy="4420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5C2CF20-062F-18B4-6716-CB7AD88163FD}"/>
              </a:ext>
            </a:extLst>
          </p:cNvPr>
          <p:cNvSpPr txBox="1"/>
          <p:nvPr/>
        </p:nvSpPr>
        <p:spPr>
          <a:xfrm>
            <a:off x="9162485" y="5880272"/>
            <a:ext cx="38664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NAS</a:t>
            </a:r>
            <a:endParaRPr lang="ko-KR" altLang="en-US" sz="8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202EBB9-61AF-1DA2-E5DD-794359DBDBE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3657" y="1972921"/>
            <a:ext cx="6098770" cy="3964200"/>
          </a:xfrm>
          <a:prstGeom prst="rect">
            <a:avLst/>
          </a:prstGeom>
        </p:spPr>
      </p:pic>
      <p:pic>
        <p:nvPicPr>
          <p:cNvPr id="1079" name="그림 1078">
            <a:extLst>
              <a:ext uri="{FF2B5EF4-FFF2-40B4-BE49-F238E27FC236}">
                <a16:creationId xmlns:a16="http://schemas.microsoft.com/office/drawing/2014/main" id="{99C51DE6-EAF5-D9B3-84D7-1F1EC9C131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40933" y="5342003"/>
            <a:ext cx="578512" cy="578512"/>
          </a:xfrm>
          <a:prstGeom prst="rect">
            <a:avLst/>
          </a:prstGeom>
        </p:spPr>
      </p:pic>
      <p:sp>
        <p:nvSpPr>
          <p:cNvPr id="1082" name="TextBox 1081">
            <a:extLst>
              <a:ext uri="{FF2B5EF4-FFF2-40B4-BE49-F238E27FC236}">
                <a16:creationId xmlns:a16="http://schemas.microsoft.com/office/drawing/2014/main" id="{6B5C8F13-1519-07A9-8F77-43D219AAA600}"/>
              </a:ext>
            </a:extLst>
          </p:cNvPr>
          <p:cNvSpPr txBox="1"/>
          <p:nvPr/>
        </p:nvSpPr>
        <p:spPr>
          <a:xfrm>
            <a:off x="5638351" y="5850037"/>
            <a:ext cx="38664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NAS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2097428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616C5-0DBD-1735-998A-B3C24CF38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FC71D14-2311-2513-EE43-B18122233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0617F-29CF-4C22-9ED2-E1F392C1F401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88" name="제목 2">
            <a:extLst>
              <a:ext uri="{FF2B5EF4-FFF2-40B4-BE49-F238E27FC236}">
                <a16:creationId xmlns:a16="http://schemas.microsoft.com/office/drawing/2014/main" id="{4165C550-C1CD-BB61-2498-C354F46BF295}"/>
              </a:ext>
            </a:extLst>
          </p:cNvPr>
          <p:cNvSpPr txBox="1">
            <a:spLocks/>
          </p:cNvSpPr>
          <p:nvPr/>
        </p:nvSpPr>
        <p:spPr>
          <a:xfrm>
            <a:off x="422854" y="171738"/>
            <a:ext cx="11953929" cy="476124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592447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1184895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777342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2369791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400" latinLnBrk="0"/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1. 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플랫폼 구성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안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) To-Be_</a:t>
            </a:r>
            <a:r>
              <a:rPr lang="ko-KR" altLang="en-US" sz="2800" spc="-123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온품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 기술검토 의견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안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endParaRPr lang="ko-KR" altLang="en-US" sz="2800" spc="-123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모서리가 둥근 직사각형 14">
            <a:extLst>
              <a:ext uri="{FF2B5EF4-FFF2-40B4-BE49-F238E27FC236}">
                <a16:creationId xmlns:a16="http://schemas.microsoft.com/office/drawing/2014/main" id="{C455631C-5E26-63DC-31A4-55422642166E}"/>
              </a:ext>
            </a:extLst>
          </p:cNvPr>
          <p:cNvSpPr/>
          <p:nvPr/>
        </p:nvSpPr>
        <p:spPr bwMode="auto">
          <a:xfrm>
            <a:off x="7672740" y="1587500"/>
            <a:ext cx="2113106" cy="4914900"/>
          </a:xfrm>
          <a:prstGeom prst="roundRect">
            <a:avLst>
              <a:gd name="adj" fmla="val 6020"/>
            </a:avLst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8" name="Picture 4">
            <a:extLst>
              <a:ext uri="{FF2B5EF4-FFF2-40B4-BE49-F238E27FC236}">
                <a16:creationId xmlns:a16="http://schemas.microsoft.com/office/drawing/2014/main" id="{E233E6F5-8206-61DB-341A-E27FBC81E2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4" t="27942" r="78219" b="32087"/>
          <a:stretch>
            <a:fillRect/>
          </a:stretch>
        </p:blipFill>
        <p:spPr bwMode="auto">
          <a:xfrm>
            <a:off x="11371800" y="1996901"/>
            <a:ext cx="770636" cy="498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36E47C2-2EC1-553A-95D4-79531BDDD6E0}"/>
              </a:ext>
            </a:extLst>
          </p:cNvPr>
          <p:cNvCxnSpPr>
            <a:cxnSpLocks/>
          </p:cNvCxnSpPr>
          <p:nvPr/>
        </p:nvCxnSpPr>
        <p:spPr>
          <a:xfrm>
            <a:off x="11174055" y="915337"/>
            <a:ext cx="0" cy="6041747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FB30A8F-D477-6CFC-9FD3-094D482DD312}"/>
              </a:ext>
            </a:extLst>
          </p:cNvPr>
          <p:cNvSpPr/>
          <p:nvPr/>
        </p:nvSpPr>
        <p:spPr>
          <a:xfrm>
            <a:off x="422854" y="921743"/>
            <a:ext cx="10580215" cy="191484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G-</a:t>
            </a:r>
            <a:r>
              <a:rPr lang="ko-KR" altLang="en-US" sz="1100" dirty="0"/>
              <a:t>클라우드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98E839-BFB4-ABC9-8C30-12D5566245E5}"/>
              </a:ext>
            </a:extLst>
          </p:cNvPr>
          <p:cNvSpPr txBox="1"/>
          <p:nvPr/>
        </p:nvSpPr>
        <p:spPr>
          <a:xfrm>
            <a:off x="11433952" y="1711934"/>
            <a:ext cx="646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인터넷</a:t>
            </a:r>
          </a:p>
        </p:txBody>
      </p:sp>
      <p:sp>
        <p:nvSpPr>
          <p:cNvPr id="31" name="모서리가 둥근 직사각형 14">
            <a:extLst>
              <a:ext uri="{FF2B5EF4-FFF2-40B4-BE49-F238E27FC236}">
                <a16:creationId xmlns:a16="http://schemas.microsoft.com/office/drawing/2014/main" id="{9547DBA5-6F01-2EB6-A470-6BBC461B69DF}"/>
              </a:ext>
            </a:extLst>
          </p:cNvPr>
          <p:cNvSpPr/>
          <p:nvPr/>
        </p:nvSpPr>
        <p:spPr bwMode="auto">
          <a:xfrm>
            <a:off x="1156496" y="1587500"/>
            <a:ext cx="6360540" cy="4914900"/>
          </a:xfrm>
          <a:prstGeom prst="roundRect">
            <a:avLst>
              <a:gd name="adj" fmla="val 3404"/>
            </a:avLst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FE1DEC70-1789-9E00-95C0-42333ED49C00}"/>
              </a:ext>
            </a:extLst>
          </p:cNvPr>
          <p:cNvGrpSpPr/>
          <p:nvPr/>
        </p:nvGrpSpPr>
        <p:grpSpPr>
          <a:xfrm>
            <a:off x="7146368" y="6032372"/>
            <a:ext cx="897041" cy="332043"/>
            <a:chOff x="10134522" y="212106"/>
            <a:chExt cx="897041" cy="332043"/>
          </a:xfrm>
        </p:grpSpPr>
        <p:pic>
          <p:nvPicPr>
            <p:cNvPr id="36" name="Picture 3">
              <a:extLst>
                <a:ext uri="{FF2B5EF4-FFF2-40B4-BE49-F238E27FC236}">
                  <a16:creationId xmlns:a16="http://schemas.microsoft.com/office/drawing/2014/main" id="{9F322F1D-E2B3-7B61-08C9-58DB6BC885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34522" y="275450"/>
              <a:ext cx="897041" cy="2686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7" name="object 98">
              <a:extLst>
                <a:ext uri="{FF2B5EF4-FFF2-40B4-BE49-F238E27FC236}">
                  <a16:creationId xmlns:a16="http://schemas.microsoft.com/office/drawing/2014/main" id="{35A25446-DD9E-779A-A139-B4E83DB8C30D}"/>
                </a:ext>
              </a:extLst>
            </p:cNvPr>
            <p:cNvSpPr txBox="1"/>
            <p:nvPr/>
          </p:nvSpPr>
          <p:spPr>
            <a:xfrm>
              <a:off x="10248822" y="212106"/>
              <a:ext cx="660444" cy="197693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marL="12700" marR="0" lvl="0" indent="0" algn="ctr" defTabSz="914400" rtl="0" eaLnBrk="1" fontAlgn="auto" latinLnBrk="1" hangingPunct="1">
                <a:lnSpc>
                  <a:spcPts val="19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UnDinaru"/>
                </a:rPr>
                <a:t>망연계시스템</a:t>
              </a:r>
              <a:endParaRPr kumimoji="0" sz="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UnDinaru"/>
              </a:endParaRPr>
            </a:p>
          </p:txBody>
        </p:sp>
      </p:grpSp>
      <p:sp>
        <p:nvSpPr>
          <p:cNvPr id="39" name="object 98">
            <a:extLst>
              <a:ext uri="{FF2B5EF4-FFF2-40B4-BE49-F238E27FC236}">
                <a16:creationId xmlns:a16="http://schemas.microsoft.com/office/drawing/2014/main" id="{9AC78512-8D77-A5DC-E481-C73109D21BDB}"/>
              </a:ext>
            </a:extLst>
          </p:cNvPr>
          <p:cNvSpPr txBox="1"/>
          <p:nvPr/>
        </p:nvSpPr>
        <p:spPr>
          <a:xfrm>
            <a:off x="9603873" y="1226715"/>
            <a:ext cx="704039" cy="391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>
                <a:latin typeface="프리젠테이션 5 Medium" pitchFamily="2" charset="-127"/>
                <a:ea typeface="프리젠테이션 5 Medium" pitchFamily="2" charset="-127"/>
              </a:defRPr>
            </a:lvl1pPr>
          </a:lstStyle>
          <a:p>
            <a:r>
              <a:rPr lang="en-US" altLang="ko-KR" dirty="0"/>
              <a:t>DMZ</a:t>
            </a:r>
            <a:endParaRPr dirty="0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B9910303-7FB2-4161-99F7-4B8B0A54EF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5298" y="2906233"/>
            <a:ext cx="200986" cy="292934"/>
          </a:xfrm>
          <a:prstGeom prst="rect">
            <a:avLst/>
          </a:prstGeom>
        </p:spPr>
      </p:pic>
      <p:sp>
        <p:nvSpPr>
          <p:cNvPr id="42" name="object 98">
            <a:extLst>
              <a:ext uri="{FF2B5EF4-FFF2-40B4-BE49-F238E27FC236}">
                <a16:creationId xmlns:a16="http://schemas.microsoft.com/office/drawing/2014/main" id="{0ADC3A09-F654-C76E-DDC2-A6B5AF2B48BE}"/>
              </a:ext>
            </a:extLst>
          </p:cNvPr>
          <p:cNvSpPr txBox="1"/>
          <p:nvPr/>
        </p:nvSpPr>
        <p:spPr>
          <a:xfrm>
            <a:off x="9890038" y="2645610"/>
            <a:ext cx="935634" cy="36015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marR="0" lvl="0" indent="0" algn="ctr" defTabSz="914400" rtl="0" eaLnBrk="1" fontAlgn="auto" latinLnBrk="1" hangingPunct="1">
              <a:lnSpc>
                <a:spcPts val="7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UnDinaru"/>
              </a:rPr>
              <a:t>Web(</a:t>
            </a:r>
            <a:r>
              <a:rPr kumimoji="0" lang="ko-KR" altLang="en-US" sz="1000" b="0" i="0" u="none" strike="noStrike" kern="1200" cap="none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UnDinaru"/>
              </a:rPr>
              <a:t>외부</a:t>
            </a:r>
            <a:r>
              <a:rPr kumimoji="0" lang="en-US" altLang="ko-KR" sz="1000" b="0" i="0" u="none" strike="noStrike" kern="1200" cap="none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UnDinaru"/>
              </a:rPr>
              <a:t>)</a:t>
            </a:r>
          </a:p>
          <a:p>
            <a:pPr algn="ctr" defTabSz="914400">
              <a:lnSpc>
                <a:spcPts val="720"/>
              </a:lnSpc>
              <a:defRPr/>
            </a:pP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  <a:cs typeface="UnDinaru"/>
              </a:rPr>
              <a:t>Proxy</a:t>
            </a:r>
          </a:p>
          <a:p>
            <a:pPr marR="0" lvl="0" indent="0" algn="ctr" defTabSz="914400" rtl="0" eaLnBrk="1" fontAlgn="auto" latinLnBrk="1" hangingPunct="1">
              <a:lnSpc>
                <a:spcPts val="7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1200" cap="none" normalizeH="0" baseline="0" noProof="0" dirty="0">
              <a:ln>
                <a:noFill/>
              </a:ln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UnDinaru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9CAA5086-C37C-D9D5-40A9-EAFAE7CD6F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5298" y="4443821"/>
            <a:ext cx="200986" cy="292934"/>
          </a:xfrm>
          <a:prstGeom prst="rect">
            <a:avLst/>
          </a:prstGeom>
        </p:spPr>
      </p:pic>
      <p:sp>
        <p:nvSpPr>
          <p:cNvPr id="45" name="object 98">
            <a:extLst>
              <a:ext uri="{FF2B5EF4-FFF2-40B4-BE49-F238E27FC236}">
                <a16:creationId xmlns:a16="http://schemas.microsoft.com/office/drawing/2014/main" id="{E7AE6CE6-EEAC-D1E7-8187-FD8C59E18D0E}"/>
              </a:ext>
            </a:extLst>
          </p:cNvPr>
          <p:cNvSpPr txBox="1"/>
          <p:nvPr/>
        </p:nvSpPr>
        <p:spPr>
          <a:xfrm>
            <a:off x="9988876" y="4789731"/>
            <a:ext cx="786256" cy="27643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marR="0" lvl="0" indent="0" algn="ctr" defTabSz="914400" rtl="0" eaLnBrk="1" fontAlgn="auto" latinLnBrk="1" hangingPunct="1">
              <a:lnSpc>
                <a:spcPts val="7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normalizeH="0" baseline="0" noProof="0" dirty="0" err="1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UnDinaru"/>
              </a:rPr>
              <a:t>연계서버</a:t>
            </a:r>
            <a:endParaRPr kumimoji="0" lang="en-US" altLang="ko-KR" sz="1000" b="0" i="0" u="none" strike="noStrike" kern="1200" cap="none" normalizeH="0" baseline="0" noProof="0" dirty="0">
              <a:ln>
                <a:noFill/>
              </a:ln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UnDinaru"/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FF90A8B0-6EE6-10D0-BFEC-12E03BBEBBD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2738" y="2906233"/>
            <a:ext cx="269100" cy="248672"/>
          </a:xfrm>
          <a:prstGeom prst="rect">
            <a:avLst/>
          </a:prstGeom>
        </p:spPr>
      </p:pic>
      <p:sp>
        <p:nvSpPr>
          <p:cNvPr id="48" name="Text Box 944">
            <a:extLst>
              <a:ext uri="{FF2B5EF4-FFF2-40B4-BE49-F238E27FC236}">
                <a16:creationId xmlns:a16="http://schemas.microsoft.com/office/drawing/2014/main" id="{AA0AD227-F09A-216F-7375-335C77029C5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0677474" y="2695484"/>
            <a:ext cx="604591" cy="260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noAutofit/>
          </a:bodyPr>
          <a:lstStyle>
            <a:lvl1pPr eaLnBrk="0" hangingPunct="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방화벽</a:t>
            </a: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4361754A-E15C-D8C4-8D5B-895ADB38EB0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550" y="3878639"/>
            <a:ext cx="269100" cy="248672"/>
          </a:xfrm>
          <a:prstGeom prst="rect">
            <a:avLst/>
          </a:prstGeom>
        </p:spPr>
      </p:pic>
      <p:sp>
        <p:nvSpPr>
          <p:cNvPr id="54" name="Text Box 944">
            <a:extLst>
              <a:ext uri="{FF2B5EF4-FFF2-40B4-BE49-F238E27FC236}">
                <a16:creationId xmlns:a16="http://schemas.microsoft.com/office/drawing/2014/main" id="{24E8D8E2-8136-AF96-06A8-6FB2B5745E4E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9882629" y="4131255"/>
            <a:ext cx="386943" cy="179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noAutofit/>
          </a:bodyPr>
          <a:lstStyle>
            <a:lvl1pPr eaLnBrk="0" hangingPunct="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방화벽</a:t>
            </a:r>
          </a:p>
        </p:txBody>
      </p:sp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57F3033E-EFC1-0C4A-BED1-359B11B9A2E9}"/>
              </a:ext>
            </a:extLst>
          </p:cNvPr>
          <p:cNvCxnSpPr>
            <a:cxnSpLocks/>
            <a:stCxn id="41" idx="2"/>
            <a:endCxn id="44" idx="0"/>
          </p:cNvCxnSpPr>
          <p:nvPr/>
        </p:nvCxnSpPr>
        <p:spPr>
          <a:xfrm rot="5400000">
            <a:off x="9773464" y="3821494"/>
            <a:ext cx="1244654" cy="12700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EC32ADD2-7F1B-B518-D79E-EFA99306F4B2}"/>
              </a:ext>
            </a:extLst>
          </p:cNvPr>
          <p:cNvCxnSpPr>
            <a:cxnSpLocks/>
            <a:stCxn id="18" idx="2"/>
            <a:endCxn id="41" idx="3"/>
          </p:cNvCxnSpPr>
          <p:nvPr/>
        </p:nvCxnSpPr>
        <p:spPr>
          <a:xfrm rot="5400000">
            <a:off x="10847926" y="2143507"/>
            <a:ext cx="557551" cy="1260834"/>
          </a:xfrm>
          <a:prstGeom prst="bentConnector2">
            <a:avLst/>
          </a:prstGeom>
          <a:ln w="19050" cap="flat" cmpd="sng" algn="ctr">
            <a:solidFill>
              <a:schemeClr val="accent1"/>
            </a:solidFill>
            <a:prstDash val="sysDash"/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모서리가 둥근 직사각형 14">
            <a:extLst>
              <a:ext uri="{FF2B5EF4-FFF2-40B4-BE49-F238E27FC236}">
                <a16:creationId xmlns:a16="http://schemas.microsoft.com/office/drawing/2014/main" id="{4CF06377-02B1-F0A2-7F6E-3BC9D22841F0}"/>
              </a:ext>
            </a:extLst>
          </p:cNvPr>
          <p:cNvSpPr/>
          <p:nvPr/>
        </p:nvSpPr>
        <p:spPr bwMode="auto">
          <a:xfrm>
            <a:off x="10045742" y="1587500"/>
            <a:ext cx="683209" cy="4914900"/>
          </a:xfrm>
          <a:prstGeom prst="roundRect">
            <a:avLst>
              <a:gd name="adj" fmla="val 6020"/>
            </a:avLst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0879C88C-4206-066E-F97A-16D2329C7B25}"/>
              </a:ext>
            </a:extLst>
          </p:cNvPr>
          <p:cNvCxnSpPr>
            <a:cxnSpLocks/>
            <a:stCxn id="44" idx="1"/>
            <a:endCxn id="12" idx="3"/>
          </p:cNvCxnSpPr>
          <p:nvPr/>
        </p:nvCxnSpPr>
        <p:spPr>
          <a:xfrm rot="10800000">
            <a:off x="9785846" y="4044950"/>
            <a:ext cx="509452" cy="545338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1"/>
            </a:solidFill>
            <a:prstDash val="sysDash"/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04F79AA1-B45E-6CB9-F644-DF07E545ADCD}"/>
              </a:ext>
            </a:extLst>
          </p:cNvPr>
          <p:cNvSpPr txBox="1"/>
          <p:nvPr/>
        </p:nvSpPr>
        <p:spPr>
          <a:xfrm>
            <a:off x="1156496" y="1226715"/>
            <a:ext cx="1130438" cy="391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행정서비스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6AAA6FB-1D44-000A-A271-60E7851E1920}"/>
              </a:ext>
            </a:extLst>
          </p:cNvPr>
          <p:cNvSpPr txBox="1"/>
          <p:nvPr/>
        </p:nvSpPr>
        <p:spPr>
          <a:xfrm>
            <a:off x="7672740" y="1220306"/>
            <a:ext cx="1130438" cy="391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대민서비스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6B70FB47-3EE8-EFFC-6750-2E6DA304A89D}"/>
              </a:ext>
            </a:extLst>
          </p:cNvPr>
          <p:cNvSpPr txBox="1"/>
          <p:nvPr/>
        </p:nvSpPr>
        <p:spPr>
          <a:xfrm>
            <a:off x="372713" y="1711934"/>
            <a:ext cx="646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행망</a:t>
            </a:r>
          </a:p>
        </p:txBody>
      </p:sp>
      <p:cxnSp>
        <p:nvCxnSpPr>
          <p:cNvPr id="1072" name="연결선: 꺾임 1071">
            <a:extLst>
              <a:ext uri="{FF2B5EF4-FFF2-40B4-BE49-F238E27FC236}">
                <a16:creationId xmlns:a16="http://schemas.microsoft.com/office/drawing/2014/main" id="{4F9CA812-7E5E-B23E-3443-EF217263323F}"/>
              </a:ext>
            </a:extLst>
          </p:cNvPr>
          <p:cNvCxnSpPr>
            <a:cxnSpLocks/>
            <a:stCxn id="1076" idx="2"/>
            <a:endCxn id="31" idx="1"/>
          </p:cNvCxnSpPr>
          <p:nvPr/>
        </p:nvCxnSpPr>
        <p:spPr>
          <a:xfrm rot="16200000" flipH="1">
            <a:off x="142642" y="3031095"/>
            <a:ext cx="1549801" cy="477907"/>
          </a:xfrm>
          <a:prstGeom prst="bentConnector2">
            <a:avLst/>
          </a:prstGeom>
          <a:ln w="19050" cap="flat" cmpd="sng" algn="ctr">
            <a:solidFill>
              <a:schemeClr val="accent1"/>
            </a:solidFill>
            <a:prstDash val="sysDash"/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76" name="Picture 4">
            <a:extLst>
              <a:ext uri="{FF2B5EF4-FFF2-40B4-BE49-F238E27FC236}">
                <a16:creationId xmlns:a16="http://schemas.microsoft.com/office/drawing/2014/main" id="{3B5341E6-1321-3614-769C-E0B5E41F4B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4" t="27942" r="78219" b="32087"/>
          <a:stretch>
            <a:fillRect/>
          </a:stretch>
        </p:blipFill>
        <p:spPr bwMode="auto">
          <a:xfrm>
            <a:off x="293271" y="1996901"/>
            <a:ext cx="770636" cy="498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0695B04-3564-79A0-B994-EBD86D854F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4583" y="1965079"/>
            <a:ext cx="1915379" cy="2461447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B3416D8C-D6FE-EAB5-CA76-E2A4D4210A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4583" y="4734695"/>
            <a:ext cx="1914308" cy="660107"/>
          </a:xfrm>
          <a:prstGeom prst="rect">
            <a:avLst/>
          </a:prstGeom>
        </p:spPr>
      </p:pic>
      <p:pic>
        <p:nvPicPr>
          <p:cNvPr id="43" name="Picture 2">
            <a:extLst>
              <a:ext uri="{FF2B5EF4-FFF2-40B4-BE49-F238E27FC236}">
                <a16:creationId xmlns:a16="http://schemas.microsoft.com/office/drawing/2014/main" id="{E033E9CF-51CB-6C1F-FDA8-B8EE0CBE7C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145" t="49497" b="11173"/>
          <a:stretch>
            <a:fillRect/>
          </a:stretch>
        </p:blipFill>
        <p:spPr bwMode="auto">
          <a:xfrm>
            <a:off x="8100275" y="5496718"/>
            <a:ext cx="404851" cy="590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>
            <a:extLst>
              <a:ext uri="{FF2B5EF4-FFF2-40B4-BE49-F238E27FC236}">
                <a16:creationId xmlns:a16="http://schemas.microsoft.com/office/drawing/2014/main" id="{4663CBE6-CFF9-9DE0-A103-09DBC95694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145" t="49497" b="11173"/>
          <a:stretch>
            <a:fillRect/>
          </a:stretch>
        </p:blipFill>
        <p:spPr bwMode="auto">
          <a:xfrm>
            <a:off x="8645222" y="5490309"/>
            <a:ext cx="404851" cy="590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170D611-8C56-CDCE-6A53-FEE18CAC7A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34802" y="5460034"/>
            <a:ext cx="442011" cy="4420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30D3B18-B875-367C-69B8-64A236F747D5}"/>
              </a:ext>
            </a:extLst>
          </p:cNvPr>
          <p:cNvSpPr txBox="1"/>
          <p:nvPr/>
        </p:nvSpPr>
        <p:spPr>
          <a:xfrm>
            <a:off x="9162485" y="5880272"/>
            <a:ext cx="38664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NAS</a:t>
            </a:r>
            <a:endParaRPr lang="ko-KR" altLang="en-US" sz="800" dirty="0"/>
          </a:p>
        </p:txBody>
      </p:sp>
      <p:pic>
        <p:nvPicPr>
          <p:cNvPr id="1079" name="그림 1078">
            <a:extLst>
              <a:ext uri="{FF2B5EF4-FFF2-40B4-BE49-F238E27FC236}">
                <a16:creationId xmlns:a16="http://schemas.microsoft.com/office/drawing/2014/main" id="{7342A25C-10FC-654F-6DA4-580A46CBF7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40933" y="5342003"/>
            <a:ext cx="578512" cy="578512"/>
          </a:xfrm>
          <a:prstGeom prst="rect">
            <a:avLst/>
          </a:prstGeom>
        </p:spPr>
      </p:pic>
      <p:sp>
        <p:nvSpPr>
          <p:cNvPr id="1082" name="TextBox 1081">
            <a:extLst>
              <a:ext uri="{FF2B5EF4-FFF2-40B4-BE49-F238E27FC236}">
                <a16:creationId xmlns:a16="http://schemas.microsoft.com/office/drawing/2014/main" id="{421611F2-A6B2-BCF9-E6BE-D1976A9A9EF9}"/>
              </a:ext>
            </a:extLst>
          </p:cNvPr>
          <p:cNvSpPr txBox="1"/>
          <p:nvPr/>
        </p:nvSpPr>
        <p:spPr>
          <a:xfrm>
            <a:off x="5638351" y="5850037"/>
            <a:ext cx="38664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NAS</a:t>
            </a:r>
            <a:endParaRPr lang="ko-KR" altLang="en-US" sz="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10B4B6E-4D88-2989-6BE4-104066F84F2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8698" y="1965181"/>
            <a:ext cx="6167699" cy="4009004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7FA735E-6F5C-28F4-F0D6-40EA8DEDB5E7}"/>
              </a:ext>
            </a:extLst>
          </p:cNvPr>
          <p:cNvSpPr/>
          <p:nvPr/>
        </p:nvSpPr>
        <p:spPr bwMode="auto">
          <a:xfrm>
            <a:off x="1213362" y="3549649"/>
            <a:ext cx="6256348" cy="691611"/>
          </a:xfrm>
          <a:prstGeom prst="rect">
            <a:avLst/>
          </a:prstGeom>
          <a:solidFill>
            <a:srgbClr val="BFBFBF">
              <a:alpha val="80000"/>
            </a:srgbClr>
          </a:solidFill>
          <a:ln w="28575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5749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B4867-FAAD-C02B-2150-7BDDA8B6A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32013D7-E5DB-8813-29BC-70D889B4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0617F-29CF-4C22-9ED2-E1F392C1F401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F97E4D3-684F-F7F3-2D72-664CC52037A4}"/>
              </a:ext>
            </a:extLst>
          </p:cNvPr>
          <p:cNvSpPr txBox="1">
            <a:spLocks/>
          </p:cNvSpPr>
          <p:nvPr/>
        </p:nvSpPr>
        <p:spPr>
          <a:xfrm>
            <a:off x="422854" y="171738"/>
            <a:ext cx="11953929" cy="476124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592447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1184895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777342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2369791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400" latinLnBrk="0"/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3. 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플랫폼 구성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안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) 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비교표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D8D8B56-C1AC-DBAF-0CE3-CFB0EC761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544125"/>
              </p:ext>
            </p:extLst>
          </p:nvPr>
        </p:nvGraphicFramePr>
        <p:xfrm>
          <a:off x="422853" y="1117599"/>
          <a:ext cx="11953929" cy="5235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2945">
                  <a:extLst>
                    <a:ext uri="{9D8B030D-6E8A-4147-A177-3AD203B41FA5}">
                      <a16:colId xmlns:a16="http://schemas.microsoft.com/office/drawing/2014/main" val="2635571172"/>
                    </a:ext>
                  </a:extLst>
                </a:gridCol>
                <a:gridCol w="3616341">
                  <a:extLst>
                    <a:ext uri="{9D8B030D-6E8A-4147-A177-3AD203B41FA5}">
                      <a16:colId xmlns:a16="http://schemas.microsoft.com/office/drawing/2014/main" val="4173552393"/>
                    </a:ext>
                  </a:extLst>
                </a:gridCol>
                <a:gridCol w="3984643">
                  <a:extLst>
                    <a:ext uri="{9D8B030D-6E8A-4147-A177-3AD203B41FA5}">
                      <a16:colId xmlns:a16="http://schemas.microsoft.com/office/drawing/2014/main" val="3745267744"/>
                    </a:ext>
                  </a:extLst>
                </a:gridCol>
              </a:tblGrid>
              <a:tr h="7622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As-Is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To-Be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3254787"/>
                  </a:ext>
                </a:extLst>
              </a:tr>
              <a:tr h="5591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PaaS </a:t>
                      </a:r>
                      <a:r>
                        <a:rPr lang="ko-KR" altLang="en-US" sz="1800" dirty="0"/>
                        <a:t>영역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K8S(</a:t>
                      </a:r>
                      <a:r>
                        <a:rPr lang="ko-KR" altLang="en-US" sz="1800" dirty="0" err="1"/>
                        <a:t>쿠버네티스</a:t>
                      </a:r>
                      <a:r>
                        <a:rPr lang="en-US" altLang="ko-KR" sz="1800" dirty="0"/>
                        <a:t>)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없음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3353749"/>
                  </a:ext>
                </a:extLst>
              </a:tr>
              <a:tr h="5591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서비스</a:t>
                      </a:r>
                      <a:r>
                        <a:rPr lang="en-US" altLang="ko-KR" sz="1800" dirty="0"/>
                        <a:t> </a:t>
                      </a:r>
                      <a:r>
                        <a:rPr lang="ko-KR" altLang="en-US" sz="1800" dirty="0"/>
                        <a:t>관리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Pod(</a:t>
                      </a:r>
                      <a:r>
                        <a:rPr lang="ko-KR" altLang="en-US" sz="1800" dirty="0"/>
                        <a:t>자동 할당 및 분배</a:t>
                      </a:r>
                      <a:r>
                        <a:rPr lang="en-US" altLang="ko-KR" sz="1800" dirty="0"/>
                        <a:t>)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컨테이너 </a:t>
                      </a:r>
                      <a:r>
                        <a:rPr lang="en-US" altLang="ko-KR" sz="1800" dirty="0"/>
                        <a:t>(</a:t>
                      </a:r>
                      <a:r>
                        <a:rPr lang="ko-KR" altLang="en-US" sz="1800" dirty="0"/>
                        <a:t>사람이 수동 할당 및 분배</a:t>
                      </a:r>
                      <a:r>
                        <a:rPr lang="en-US" altLang="ko-KR" sz="1800" dirty="0"/>
                        <a:t>)</a:t>
                      </a:r>
                      <a:endParaRPr lang="ko-KR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4828965"/>
                  </a:ext>
                </a:extLst>
              </a:tr>
              <a:tr h="5591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리소스 관리</a:t>
                      </a:r>
                      <a:r>
                        <a:rPr lang="en-US" altLang="ko-KR" sz="1800" dirty="0"/>
                        <a:t>(CPU, RAM)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서비스 사용에 따라 가변</a:t>
                      </a:r>
                      <a:endParaRPr lang="en-US" altLang="ko-K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VM</a:t>
                      </a:r>
                      <a:r>
                        <a:rPr lang="ko-KR" altLang="en-US" sz="1800" dirty="0"/>
                        <a:t> 사양 이내로 제한</a:t>
                      </a:r>
                      <a:endParaRPr lang="en-US" altLang="ko-KR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366762"/>
                  </a:ext>
                </a:extLst>
              </a:tr>
              <a:tr h="5591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DevOps (</a:t>
                      </a:r>
                      <a:r>
                        <a:rPr lang="ko-KR" altLang="en-US" sz="1800" dirty="0"/>
                        <a:t>개발</a:t>
                      </a:r>
                      <a:r>
                        <a:rPr lang="en-US" altLang="ko-KR" sz="1800" dirty="0"/>
                        <a:t>/</a:t>
                      </a:r>
                      <a:r>
                        <a:rPr lang="ko-KR" altLang="en-US" sz="1800" dirty="0"/>
                        <a:t>운영 환경</a:t>
                      </a:r>
                      <a:r>
                        <a:rPr lang="en-US" altLang="ko-KR" sz="1800" dirty="0"/>
                        <a:t>)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Namespace</a:t>
                      </a:r>
                      <a:r>
                        <a:rPr lang="ko-KR" altLang="en-US" sz="1800" dirty="0"/>
                        <a:t>로 논리적 구분</a:t>
                      </a:r>
                      <a:endParaRPr lang="en-US" altLang="ko-K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구축</a:t>
                      </a:r>
                      <a:r>
                        <a:rPr lang="en-US" altLang="ko-KR" sz="1800" dirty="0"/>
                        <a:t>(VM</a:t>
                      </a:r>
                      <a:r>
                        <a:rPr lang="ko-KR" altLang="en-US" sz="1800" dirty="0"/>
                        <a:t>으로 물리적 구분</a:t>
                      </a:r>
                      <a:r>
                        <a:rPr lang="en-US" altLang="ko-KR" sz="18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6710149"/>
                  </a:ext>
                </a:extLst>
              </a:tr>
              <a:tr h="5591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CI/CD (Gitlab/Jenkins)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구축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구축</a:t>
                      </a:r>
                      <a:r>
                        <a:rPr lang="en-US" altLang="ko-KR" sz="1800" dirty="0"/>
                        <a:t>(VM</a:t>
                      </a:r>
                      <a:r>
                        <a:rPr lang="ko-KR" altLang="en-US" sz="1800" dirty="0"/>
                        <a:t>환경</a:t>
                      </a:r>
                      <a:r>
                        <a:rPr lang="en-US" altLang="ko-KR" sz="1800" dirty="0"/>
                        <a:t>)</a:t>
                      </a:r>
                      <a:endParaRPr lang="ko-KR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65990"/>
                  </a:ext>
                </a:extLst>
              </a:tr>
              <a:tr h="5591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err="1"/>
                        <a:t>무중단</a:t>
                      </a:r>
                      <a:r>
                        <a:rPr lang="ko-KR" altLang="en-US" sz="1800" dirty="0"/>
                        <a:t> 배포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지원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미지원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2077883"/>
                  </a:ext>
                </a:extLst>
              </a:tr>
              <a:tr h="5591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Developer Site(</a:t>
                      </a:r>
                      <a:r>
                        <a:rPr lang="ko-KR" altLang="en-US" sz="1800" dirty="0"/>
                        <a:t>개발시스템</a:t>
                      </a:r>
                      <a:r>
                        <a:rPr lang="en-US" altLang="ko-KR" sz="1800" dirty="0"/>
                        <a:t>)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구축</a:t>
                      </a:r>
                      <a:r>
                        <a:rPr lang="en-US" altLang="ko-KR" sz="1800" dirty="0"/>
                        <a:t>(K8S</a:t>
                      </a:r>
                      <a:r>
                        <a:rPr lang="ko-KR" altLang="en-US" sz="1800" dirty="0"/>
                        <a:t>와 연결</a:t>
                      </a:r>
                      <a:r>
                        <a:rPr lang="en-US" altLang="ko-KR" sz="1800" dirty="0"/>
                        <a:t>)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구축</a:t>
                      </a:r>
                      <a:r>
                        <a:rPr lang="en-US" altLang="ko-KR" sz="1800" dirty="0"/>
                        <a:t>(</a:t>
                      </a:r>
                      <a:r>
                        <a:rPr lang="ko-KR" altLang="en-US" sz="1800" dirty="0"/>
                        <a:t>서비스별 </a:t>
                      </a:r>
                      <a:r>
                        <a:rPr lang="en-US" altLang="ko-KR" sz="1800" dirty="0"/>
                        <a:t>VM</a:t>
                      </a:r>
                      <a:r>
                        <a:rPr lang="ko-KR" altLang="en-US" sz="1800" dirty="0"/>
                        <a:t>과 연결</a:t>
                      </a:r>
                      <a:r>
                        <a:rPr lang="en-US" altLang="ko-KR" sz="1800" dirty="0"/>
                        <a:t>)</a:t>
                      </a:r>
                      <a:endParaRPr lang="ko-KR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7390845"/>
                  </a:ext>
                </a:extLst>
              </a:tr>
              <a:tr h="5591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err="1">
                          <a:solidFill>
                            <a:schemeClr val="tx1"/>
                          </a:solidFill>
                        </a:rPr>
                        <a:t>공공클라우드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 네이티브 전환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정책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전환 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부분 전환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152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6710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27977-63E8-B810-99B0-CDE11A979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325E683-E748-B5D3-9A06-145B8E56D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0617F-29CF-4C22-9ED2-E1F392C1F401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9C7F5B2-6906-394F-91CD-0328B72233E7}"/>
              </a:ext>
            </a:extLst>
          </p:cNvPr>
          <p:cNvSpPr txBox="1">
            <a:spLocks/>
          </p:cNvSpPr>
          <p:nvPr/>
        </p:nvSpPr>
        <p:spPr>
          <a:xfrm>
            <a:off x="422854" y="171738"/>
            <a:ext cx="11953929" cy="476124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592447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1184895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777342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2369791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400" latinLnBrk="0"/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플랫폼 구성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안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) 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상세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-DevOps 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구축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835F38-BA44-5FF9-DE8A-9BFB27599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79" y="2354796"/>
            <a:ext cx="10659252" cy="3878582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8692D65-B38A-7318-53B8-E75D93D57D77}"/>
              </a:ext>
            </a:extLst>
          </p:cNvPr>
          <p:cNvSpPr/>
          <p:nvPr/>
        </p:nvSpPr>
        <p:spPr bwMode="auto">
          <a:xfrm>
            <a:off x="607680" y="949280"/>
            <a:ext cx="10659251" cy="1142165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Ops: </a:t>
            </a:r>
            <a:r>
              <a:rPr kumimoji="1"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사용자에게 서비스 되는 환경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Dev: </a:t>
            </a:r>
            <a:r>
              <a:rPr kumimoji="1"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개발 결과를 테스트 하는 환경</a:t>
            </a: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1" lang="en-US" altLang="ko-KR" sz="18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VM</a:t>
            </a:r>
            <a:r>
              <a:rPr kumimoji="1" lang="ko-KR" altLang="en-US" sz="18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을 </a:t>
            </a:r>
            <a:r>
              <a:rPr kumimoji="1" lang="en-US" altLang="ko-KR" sz="18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Dev(3</a:t>
            </a:r>
            <a:r>
              <a:rPr kumimoji="1" lang="ko-KR" altLang="en-US" sz="18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대</a:t>
            </a:r>
            <a:r>
              <a:rPr kumimoji="1" lang="en-US" altLang="ko-KR" sz="18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kumimoji="1" lang="ko-KR" altLang="en-US" sz="18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와 </a:t>
            </a:r>
            <a:r>
              <a:rPr kumimoji="1" lang="en-US" altLang="ko-KR" sz="18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Ops(3</a:t>
            </a:r>
            <a:r>
              <a:rPr kumimoji="1" lang="ko-KR" altLang="en-US" sz="18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대</a:t>
            </a:r>
            <a:r>
              <a:rPr kumimoji="1" lang="en-US" altLang="ko-KR" sz="18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kumimoji="1" lang="ko-KR" altLang="en-US" sz="18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에 배정하여 서비스 배포 및 실행</a:t>
            </a:r>
            <a:endParaRPr kumimoji="1" lang="en-US" altLang="ko-KR" sz="18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0263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 txBox="1">
            <a:spLocks/>
          </p:cNvSpPr>
          <p:nvPr/>
        </p:nvSpPr>
        <p:spPr>
          <a:xfrm>
            <a:off x="422854" y="171738"/>
            <a:ext cx="11953929" cy="476124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592447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1184895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777342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2369791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400" latinLnBrk="0"/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플랫폼 구성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안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) 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상세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cs typeface="+mn-cs"/>
              </a:rPr>
              <a:t>CI/CD 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cs typeface="+mn-cs"/>
              </a:rPr>
              <a:t>프로세스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6BCDCA9-61A4-6FB1-ABC9-AB94A37ED596}"/>
              </a:ext>
            </a:extLst>
          </p:cNvPr>
          <p:cNvSpPr/>
          <p:nvPr/>
        </p:nvSpPr>
        <p:spPr bwMode="auto">
          <a:xfrm>
            <a:off x="607680" y="949280"/>
            <a:ext cx="10659251" cy="1142165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소스 관리</a:t>
            </a:r>
            <a:r>
              <a:rPr kumimoji="1"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→</a:t>
            </a:r>
            <a:r>
              <a:rPr kumimoji="1"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컨테이너 이미지 생성</a:t>
            </a:r>
            <a:r>
              <a:rPr kumimoji="1" lang="en-US" altLang="ko-KR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→</a:t>
            </a:r>
            <a:r>
              <a:rPr kumimoji="1"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자동배포 프로세스 구축</a:t>
            </a:r>
            <a:endParaRPr kumimoji="1" lang="en-US" altLang="ko-KR" sz="16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1" lang="ko-KR" altLang="en-US" sz="14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개발한 내용을 컨테이너 이미지로 생성하여 지정된 </a:t>
            </a:r>
            <a:r>
              <a:rPr kumimoji="1" lang="en-US" altLang="ko-KR" sz="14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VM</a:t>
            </a:r>
            <a:r>
              <a:rPr kumimoji="1" lang="ko-KR" altLang="en-US" sz="14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에서 서비스</a:t>
            </a:r>
            <a:endParaRPr kumimoji="1" lang="en-US" altLang="ko-KR" sz="14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슬라이드 번호 개체 틀 1">
            <a:extLst>
              <a:ext uri="{FF2B5EF4-FFF2-40B4-BE49-F238E27FC236}">
                <a16:creationId xmlns:a16="http://schemas.microsoft.com/office/drawing/2014/main" id="{C4833628-8974-9D0D-0388-D070D01D4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054214" y="6832900"/>
            <a:ext cx="2743200" cy="244341"/>
          </a:xfrm>
        </p:spPr>
        <p:txBody>
          <a:bodyPr/>
          <a:lstStyle/>
          <a:p>
            <a:fld id="{EB10617F-29CF-4C22-9ED2-E1F392C1F401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8279F68A-B06C-69CB-D590-7BDC76EB3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708" y="2392863"/>
            <a:ext cx="8623542" cy="409354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B4FDAE9C-5F85-3782-6FB9-E9C6C54E6C47}"/>
              </a:ext>
            </a:extLst>
          </p:cNvPr>
          <p:cNvSpPr/>
          <p:nvPr/>
        </p:nvSpPr>
        <p:spPr bwMode="auto">
          <a:xfrm>
            <a:off x="7866856" y="2621755"/>
            <a:ext cx="2484437" cy="3936207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</p:spPr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0790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0617F-29CF-4C22-9ED2-E1F392C1F401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3" name="제목 2"/>
          <p:cNvSpPr txBox="1">
            <a:spLocks/>
          </p:cNvSpPr>
          <p:nvPr/>
        </p:nvSpPr>
        <p:spPr>
          <a:xfrm>
            <a:off x="422854" y="171738"/>
            <a:ext cx="11953929" cy="476124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592447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1184895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777342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2369791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400" latinLnBrk="0"/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플랫폼 구성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안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) 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상세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cs typeface="+mn-cs"/>
              </a:rPr>
              <a:t>Developer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cs typeface="+mn-cs"/>
              </a:rPr>
              <a:t> 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cs typeface="+mn-cs"/>
              </a:rPr>
              <a:t>Site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cs typeface="+mn-cs"/>
              </a:rPr>
              <a:t> 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cs typeface="+mn-cs"/>
              </a:rPr>
              <a:t>(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cs typeface="+mn-cs"/>
              </a:rPr>
              <a:t>플랫폼 개발 시스템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cs typeface="+mn-cs"/>
              </a:rPr>
              <a:t>)</a:t>
            </a:r>
            <a:endParaRPr lang="ko-KR" altLang="en-US" sz="2800" spc="-123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cs typeface="+mn-cs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ED5375C-9C6B-7D0E-EDDF-1146B4260FF1}"/>
              </a:ext>
            </a:extLst>
          </p:cNvPr>
          <p:cNvSpPr/>
          <p:nvPr/>
        </p:nvSpPr>
        <p:spPr bwMode="auto">
          <a:xfrm>
            <a:off x="607680" y="949280"/>
            <a:ext cx="10659251" cy="1142165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6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산림공간 디지털 플랫폼 개발을 위한 개발시스템 구축</a:t>
            </a:r>
            <a:endParaRPr kumimoji="1" lang="en-US" altLang="ko-KR" sz="16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1" lang="ko-KR" altLang="en-US" sz="14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개발 및 배포 이력관리</a:t>
            </a:r>
            <a:endParaRPr kumimoji="1" lang="en-US" altLang="ko-KR" sz="14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1" lang="ko-KR" altLang="en-US" sz="14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배포 시 운영자 승인관리</a:t>
            </a:r>
            <a:endParaRPr kumimoji="1" lang="en-US" altLang="ko-KR" sz="14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1" lang="ko-KR" altLang="en-US" sz="14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추후 </a:t>
            </a:r>
            <a:r>
              <a:rPr kumimoji="1" lang="ko-KR" altLang="en-US" sz="14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과학원등</a:t>
            </a:r>
            <a:r>
              <a:rPr kumimoji="1" lang="ko-KR" altLang="en-US" sz="14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서비스 개발 지원 및 관리를 위한 고도화 가능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4C0B95A-C03F-8E81-43D4-3AC9A13FD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99" y="2343369"/>
            <a:ext cx="9461502" cy="410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453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73E1D-161F-9044-2F7C-476A99AD5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672E849-1D59-CA5F-DEC9-56881FA3E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0617F-29CF-4C22-9ED2-E1F392C1F401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7A157A9-CF1F-6E76-BA8E-02CAD2122C96}"/>
              </a:ext>
            </a:extLst>
          </p:cNvPr>
          <p:cNvSpPr txBox="1">
            <a:spLocks/>
          </p:cNvSpPr>
          <p:nvPr/>
        </p:nvSpPr>
        <p:spPr>
          <a:xfrm>
            <a:off x="422854" y="171738"/>
            <a:ext cx="11953929" cy="476124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592447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1184895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777342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2369791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400" latinLnBrk="0"/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플랫폼 구성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안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) 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상세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로드맵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_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ko-KR" altLang="en-US" sz="2800" spc="-123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온품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 기술검토 의견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안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endParaRPr lang="ko-KR" altLang="en-US" sz="2800" spc="-123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9C1236D9-C394-8A0A-3C22-ED9923CCC564}"/>
              </a:ext>
            </a:extLst>
          </p:cNvPr>
          <p:cNvSpPr/>
          <p:nvPr/>
        </p:nvSpPr>
        <p:spPr bwMode="auto">
          <a:xfrm>
            <a:off x="315791" y="1441450"/>
            <a:ext cx="7866183" cy="127000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8D3EAC87-345B-B15E-7FCE-6310D91C6F51}"/>
              </a:ext>
            </a:extLst>
          </p:cNvPr>
          <p:cNvSpPr/>
          <p:nvPr/>
        </p:nvSpPr>
        <p:spPr bwMode="auto">
          <a:xfrm>
            <a:off x="8391524" y="1441450"/>
            <a:ext cx="3985256" cy="127000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BC020BE-E2A3-47A9-F288-BAD0D27E51B0}"/>
              </a:ext>
            </a:extLst>
          </p:cNvPr>
          <p:cNvCxnSpPr/>
          <p:nvPr/>
        </p:nvCxnSpPr>
        <p:spPr>
          <a:xfrm>
            <a:off x="8262938" y="1308100"/>
            <a:ext cx="0" cy="41656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F5F729A-6E61-8C8E-3D52-429EB7ACF321}"/>
              </a:ext>
            </a:extLst>
          </p:cNvPr>
          <p:cNvSpPr txBox="1"/>
          <p:nvPr/>
        </p:nvSpPr>
        <p:spPr>
          <a:xfrm>
            <a:off x="7641910" y="1581150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준공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22278E-DDA7-C641-B793-1DB09521F248}"/>
              </a:ext>
            </a:extLst>
          </p:cNvPr>
          <p:cNvSpPr txBox="1"/>
          <p:nvPr/>
        </p:nvSpPr>
        <p:spPr>
          <a:xfrm>
            <a:off x="8415599" y="1164451"/>
            <a:ext cx="1279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2027</a:t>
            </a:r>
            <a:r>
              <a:rPr lang="ko-KR" altLang="en-US" sz="1200" dirty="0"/>
              <a:t>년</a:t>
            </a:r>
            <a:r>
              <a:rPr lang="en-US" altLang="ko-KR" sz="1200" dirty="0"/>
              <a:t>~2028</a:t>
            </a:r>
            <a:r>
              <a:rPr lang="ko-KR" altLang="en-US" sz="1200" dirty="0"/>
              <a:t>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6DABAC-4A70-5DAC-E9FD-979D9D55CF18}"/>
              </a:ext>
            </a:extLst>
          </p:cNvPr>
          <p:cNvSpPr txBox="1"/>
          <p:nvPr/>
        </p:nvSpPr>
        <p:spPr>
          <a:xfrm>
            <a:off x="1738150" y="1164451"/>
            <a:ext cx="6783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2025</a:t>
            </a:r>
            <a:r>
              <a:rPr lang="ko-KR" altLang="en-US" sz="1200" dirty="0"/>
              <a:t>년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DB2120D-BF48-E262-B68E-E844B96C9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22" y="2315704"/>
            <a:ext cx="3306757" cy="20264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2C12FB9-D515-9724-8A74-B3D62DDC0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568" y="2362038"/>
            <a:ext cx="4148078" cy="198015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59F9530-808F-A9B6-30C2-D77DD4B4C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6871" y="2362038"/>
            <a:ext cx="4148078" cy="19801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A39F907-2C28-D63D-1796-07BC7A7A0E4C}"/>
              </a:ext>
            </a:extLst>
          </p:cNvPr>
          <p:cNvSpPr txBox="1"/>
          <p:nvPr/>
        </p:nvSpPr>
        <p:spPr>
          <a:xfrm>
            <a:off x="7100099" y="1164451"/>
            <a:ext cx="10021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2026</a:t>
            </a:r>
            <a:r>
              <a:rPr lang="ko-KR" altLang="en-US" sz="1200" dirty="0"/>
              <a:t>년</a:t>
            </a:r>
            <a:r>
              <a:rPr lang="en-US" altLang="ko-KR" sz="1200" dirty="0"/>
              <a:t>12</a:t>
            </a:r>
            <a:r>
              <a:rPr lang="ko-KR" altLang="en-US" sz="1200" dirty="0"/>
              <a:t>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888C68-4F50-BA04-0042-B65C8F93DFFB}"/>
              </a:ext>
            </a:extLst>
          </p:cNvPr>
          <p:cNvSpPr txBox="1"/>
          <p:nvPr/>
        </p:nvSpPr>
        <p:spPr>
          <a:xfrm>
            <a:off x="1831123" y="1581150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현재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227A03-9733-6F29-7145-DFDDE5EC4B98}"/>
              </a:ext>
            </a:extLst>
          </p:cNvPr>
          <p:cNvSpPr txBox="1"/>
          <p:nvPr/>
        </p:nvSpPr>
        <p:spPr>
          <a:xfrm>
            <a:off x="320622" y="4492564"/>
            <a:ext cx="1893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합사</a:t>
            </a:r>
            <a:r>
              <a:rPr lang="ko-KR" altLang="en-US" sz="1400" dirty="0"/>
              <a:t> 개발환경</a:t>
            </a:r>
            <a:endParaRPr lang="en-US" altLang="ko-KR" sz="1400" dirty="0"/>
          </a:p>
          <a:p>
            <a:r>
              <a:rPr lang="en-US" altLang="ko-KR" sz="1400" dirty="0"/>
              <a:t>- PaaS(K8S)</a:t>
            </a:r>
            <a:r>
              <a:rPr lang="ko-KR" altLang="en-US" sz="1400" dirty="0"/>
              <a:t> 자체구축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156D40C-441B-7D2D-B5E0-C2D20F3C6BA0}"/>
              </a:ext>
            </a:extLst>
          </p:cNvPr>
          <p:cNvSpPr txBox="1"/>
          <p:nvPr/>
        </p:nvSpPr>
        <p:spPr>
          <a:xfrm>
            <a:off x="4392013" y="4492564"/>
            <a:ext cx="24577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국자원</a:t>
            </a:r>
            <a:r>
              <a:rPr lang="ko-KR" altLang="en-US" sz="1400" dirty="0"/>
              <a:t> 광주센터</a:t>
            </a:r>
            <a:r>
              <a:rPr lang="en-US" altLang="ko-KR" sz="1400" dirty="0"/>
              <a:t>(G</a:t>
            </a:r>
            <a:r>
              <a:rPr lang="ko-KR" altLang="en-US" sz="1400" dirty="0"/>
              <a:t>클라우드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- VM</a:t>
            </a:r>
            <a:r>
              <a:rPr lang="ko-KR" altLang="en-US" sz="1400" dirty="0"/>
              <a:t>에서 서비스 운영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8C43C1-2F0C-C2FB-566B-43A2CCECCDC4}"/>
              </a:ext>
            </a:extLst>
          </p:cNvPr>
          <p:cNvSpPr txBox="1"/>
          <p:nvPr/>
        </p:nvSpPr>
        <p:spPr>
          <a:xfrm>
            <a:off x="8766817" y="4492564"/>
            <a:ext cx="24577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국자원</a:t>
            </a:r>
            <a:r>
              <a:rPr lang="ko-KR" altLang="en-US" sz="1400" dirty="0"/>
              <a:t> 광주센터</a:t>
            </a:r>
            <a:r>
              <a:rPr lang="en-US" altLang="ko-KR" sz="1400" dirty="0"/>
              <a:t>(G</a:t>
            </a:r>
            <a:r>
              <a:rPr lang="ko-KR" altLang="en-US" sz="1400" dirty="0"/>
              <a:t>클라우드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- PaaS</a:t>
            </a:r>
            <a:r>
              <a:rPr lang="ko-KR" altLang="en-US" sz="1400" dirty="0"/>
              <a:t>는 </a:t>
            </a:r>
            <a:r>
              <a:rPr lang="ko-KR" altLang="en-US" sz="1400" dirty="0" err="1"/>
              <a:t>국자원</a:t>
            </a:r>
            <a:r>
              <a:rPr lang="ko-KR" altLang="en-US" sz="1400" dirty="0"/>
              <a:t> 제공예정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CFFEFCE-4B94-118A-A189-AF322BA2D074}"/>
              </a:ext>
            </a:extLst>
          </p:cNvPr>
          <p:cNvSpPr/>
          <p:nvPr/>
        </p:nvSpPr>
        <p:spPr bwMode="auto">
          <a:xfrm>
            <a:off x="8782478" y="3248005"/>
            <a:ext cx="2297478" cy="352445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ash"/>
            <a:miter lim="800000"/>
            <a:headEnd/>
            <a:tailEnd/>
          </a:ln>
        </p:spPr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4F830A6-2918-A199-13CD-DDB2B5D822A1}"/>
              </a:ext>
            </a:extLst>
          </p:cNvPr>
          <p:cNvSpPr/>
          <p:nvPr/>
        </p:nvSpPr>
        <p:spPr bwMode="auto">
          <a:xfrm>
            <a:off x="4368905" y="3426618"/>
            <a:ext cx="2297478" cy="581622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ash"/>
            <a:miter lim="800000"/>
            <a:headEnd/>
            <a:tailEnd/>
          </a:ln>
        </p:spPr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1349914-95DB-9637-B8D0-3E00EAC19797}"/>
              </a:ext>
            </a:extLst>
          </p:cNvPr>
          <p:cNvSpPr/>
          <p:nvPr/>
        </p:nvSpPr>
        <p:spPr bwMode="auto">
          <a:xfrm>
            <a:off x="315791" y="3109292"/>
            <a:ext cx="2454071" cy="416699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ash"/>
            <a:miter lim="800000"/>
            <a:headEnd/>
            <a:tailEnd/>
          </a:ln>
        </p:spPr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F484DB3-7827-34FC-DC43-9E813BD57BEB}"/>
              </a:ext>
            </a:extLst>
          </p:cNvPr>
          <p:cNvCxnSpPr>
            <a:cxnSpLocks/>
          </p:cNvCxnSpPr>
          <p:nvPr/>
        </p:nvCxnSpPr>
        <p:spPr>
          <a:xfrm>
            <a:off x="6687021" y="1308100"/>
            <a:ext cx="0" cy="550049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2CF81D4-267C-75B7-6735-62279FF24488}"/>
              </a:ext>
            </a:extLst>
          </p:cNvPr>
          <p:cNvSpPr txBox="1"/>
          <p:nvPr/>
        </p:nvSpPr>
        <p:spPr>
          <a:xfrm>
            <a:off x="5294367" y="904101"/>
            <a:ext cx="29846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2026</a:t>
            </a:r>
            <a:r>
              <a:rPr lang="ko-KR" altLang="en-US" sz="1200" dirty="0"/>
              <a:t>년 </a:t>
            </a:r>
            <a:r>
              <a:rPr lang="en-US" altLang="ko-KR" sz="1200" dirty="0"/>
              <a:t>10</a:t>
            </a:r>
            <a:r>
              <a:rPr lang="ko-KR" altLang="en-US" sz="1200" dirty="0"/>
              <a:t>월 경 </a:t>
            </a:r>
            <a:r>
              <a:rPr lang="en-US" altLang="ko-KR" sz="1200" dirty="0"/>
              <a:t>PaaS(POD(</a:t>
            </a:r>
            <a:r>
              <a:rPr lang="ko-KR" altLang="en-US" sz="1200" dirty="0"/>
              <a:t>미정</a:t>
            </a:r>
            <a:r>
              <a:rPr lang="en-US" altLang="ko-KR" sz="1200" dirty="0"/>
              <a:t>))_</a:t>
            </a:r>
            <a:r>
              <a:rPr lang="ko-KR" altLang="en-US" sz="1200" dirty="0" err="1"/>
              <a:t>국자원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862820-E34F-2144-2E33-101AB76854E1}"/>
              </a:ext>
            </a:extLst>
          </p:cNvPr>
          <p:cNvSpPr txBox="1"/>
          <p:nvPr/>
        </p:nvSpPr>
        <p:spPr>
          <a:xfrm>
            <a:off x="4994936" y="5200302"/>
            <a:ext cx="207300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최종 산출물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VM</a:t>
            </a:r>
            <a:r>
              <a:rPr lang="ko-KR" altLang="en-US" sz="1200" dirty="0"/>
              <a:t>기반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DevOps </a:t>
            </a:r>
            <a:r>
              <a:rPr lang="ko-KR" altLang="en-US" sz="1200" dirty="0"/>
              <a:t>환경 구축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CI/CD </a:t>
            </a:r>
            <a:r>
              <a:rPr lang="ko-KR" altLang="en-US" sz="1200" dirty="0"/>
              <a:t>체계 구축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Developers </a:t>
            </a:r>
            <a:r>
              <a:rPr lang="ko-KR" altLang="en-US" sz="1200" dirty="0"/>
              <a:t>시스템 구축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ko-KR" altLang="en-US" sz="1200" dirty="0"/>
              <a:t>플랫폼 서비스 운영관리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인프라자원 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국자원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FCF583-9364-F8AA-2E4D-1D803CCD411A}"/>
              </a:ext>
            </a:extLst>
          </p:cNvPr>
          <p:cNvSpPr txBox="1"/>
          <p:nvPr/>
        </p:nvSpPr>
        <p:spPr>
          <a:xfrm>
            <a:off x="8922290" y="5107969"/>
            <a:ext cx="29748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예정 산출물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PaaS(POD)</a:t>
            </a:r>
            <a:r>
              <a:rPr lang="ko-KR" altLang="en-US" sz="1200" dirty="0"/>
              <a:t>기반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DevOps </a:t>
            </a:r>
            <a:r>
              <a:rPr lang="ko-KR" altLang="en-US" sz="1200" dirty="0"/>
              <a:t>환경 구축 고도화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CI/CD </a:t>
            </a:r>
            <a:r>
              <a:rPr lang="ko-KR" altLang="en-US" sz="1200" dirty="0"/>
              <a:t>체계 구축 고도화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Developers </a:t>
            </a:r>
            <a:r>
              <a:rPr lang="ko-KR" altLang="en-US" sz="1200" dirty="0"/>
              <a:t>시스템 구축 고도화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ko-KR" altLang="en-US" sz="1200" dirty="0"/>
              <a:t>플랫폼 서비스 운영관리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인프라자원 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국자원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플랫폼</a:t>
            </a:r>
            <a:r>
              <a:rPr lang="en-US" altLang="ko-KR" sz="1200" dirty="0"/>
              <a:t>+</a:t>
            </a:r>
            <a:r>
              <a:rPr lang="ko-KR" altLang="en-US" sz="1200" dirty="0"/>
              <a:t>서비스 </a:t>
            </a:r>
            <a:r>
              <a:rPr lang="en-US" altLang="ko-KR" sz="1200" dirty="0"/>
              <a:t>: </a:t>
            </a:r>
            <a:r>
              <a:rPr lang="ko-KR" altLang="en-US" sz="1200" dirty="0"/>
              <a:t>산림청</a:t>
            </a:r>
            <a:r>
              <a:rPr lang="en-US" altLang="ko-KR" sz="1200" dirty="0"/>
              <a:t>(</a:t>
            </a:r>
            <a:r>
              <a:rPr lang="ko-KR" altLang="en-US" sz="1200" dirty="0"/>
              <a:t>검토필요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552BC02-7698-ABAE-7521-F84DB97131EA}"/>
              </a:ext>
            </a:extLst>
          </p:cNvPr>
          <p:cNvCxnSpPr/>
          <p:nvPr/>
        </p:nvCxnSpPr>
        <p:spPr>
          <a:xfrm>
            <a:off x="3897907" y="1308100"/>
            <a:ext cx="0" cy="41656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1CD6BEC-4456-AB43-E905-2DC8130CD171}"/>
              </a:ext>
            </a:extLst>
          </p:cNvPr>
          <p:cNvSpPr txBox="1"/>
          <p:nvPr/>
        </p:nvSpPr>
        <p:spPr>
          <a:xfrm>
            <a:off x="7761414" y="2663230"/>
            <a:ext cx="1005403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rgbClr val="FF0000"/>
                </a:solidFill>
              </a:rPr>
              <a:t>전환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DEE991AE-1E36-AD4F-E532-7A5E97D37289}"/>
              </a:ext>
            </a:extLst>
          </p:cNvPr>
          <p:cNvSpPr/>
          <p:nvPr/>
        </p:nvSpPr>
        <p:spPr bwMode="auto">
          <a:xfrm>
            <a:off x="3715742" y="3300789"/>
            <a:ext cx="364331" cy="444124"/>
          </a:xfrm>
          <a:prstGeom prst="rightArrow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97071026-1279-80DB-162E-FAAE7F633199}"/>
              </a:ext>
            </a:extLst>
          </p:cNvPr>
          <p:cNvSpPr/>
          <p:nvPr/>
        </p:nvSpPr>
        <p:spPr bwMode="auto">
          <a:xfrm>
            <a:off x="7947088" y="3300789"/>
            <a:ext cx="674748" cy="444124"/>
          </a:xfrm>
          <a:prstGeom prst="rightArrow">
            <a:avLst/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FF0BA4-B4FE-3095-4705-F920F2BBDC72}"/>
              </a:ext>
            </a:extLst>
          </p:cNvPr>
          <p:cNvSpPr txBox="1"/>
          <p:nvPr/>
        </p:nvSpPr>
        <p:spPr>
          <a:xfrm>
            <a:off x="3349276" y="2663230"/>
            <a:ext cx="1005403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rgbClr val="FF0000"/>
                </a:solidFill>
              </a:rPr>
              <a:t>이관</a:t>
            </a:r>
          </a:p>
        </p:txBody>
      </p:sp>
    </p:spTree>
    <p:extLst>
      <p:ext uri="{BB962C8B-B14F-4D97-AF65-F5344CB8AC3E}">
        <p14:creationId xmlns:p14="http://schemas.microsoft.com/office/powerpoint/2010/main" val="2609190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054B7-18C9-C49A-3C45-1B57A7BD0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F2B2C16-281E-F07E-6FA0-3F66F147A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0617F-29CF-4C22-9ED2-E1F392C1F401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CE24C86-4376-0B29-6886-C8EC0A97D686}"/>
              </a:ext>
            </a:extLst>
          </p:cNvPr>
          <p:cNvSpPr txBox="1">
            <a:spLocks/>
          </p:cNvSpPr>
          <p:nvPr/>
        </p:nvSpPr>
        <p:spPr>
          <a:xfrm>
            <a:off x="422854" y="171738"/>
            <a:ext cx="11953929" cy="476124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592447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1184895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777342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2369791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400" latinLnBrk="0"/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플랫폼 구성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안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) (To-Be) 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추진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 Task 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상세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운영환경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(G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클라우드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_</a:t>
            </a:r>
            <a:r>
              <a:rPr lang="ko-KR" altLang="en-US" sz="2800" spc="-123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국자원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endParaRPr lang="ko-KR" altLang="en-US" sz="2800" spc="-123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45F9FB-AA98-7EE6-F749-479B1AD1A7B6}"/>
              </a:ext>
            </a:extLst>
          </p:cNvPr>
          <p:cNvSpPr txBox="1"/>
          <p:nvPr/>
        </p:nvSpPr>
        <p:spPr>
          <a:xfrm>
            <a:off x="685800" y="1062725"/>
            <a:ext cx="5176097" cy="49244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/>
              <a:t>&lt;G-</a:t>
            </a:r>
            <a:r>
              <a:rPr lang="ko-KR" altLang="en-US" sz="2000" dirty="0"/>
              <a:t>클라우드에 플랫폼 구축</a:t>
            </a:r>
            <a:r>
              <a:rPr lang="en-US" altLang="ko-KR" sz="2000" dirty="0"/>
              <a:t>&gt;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altLang="ko-KR" sz="1800" dirty="0"/>
              <a:t>Gitlab </a:t>
            </a:r>
            <a:r>
              <a:rPr lang="ko-KR" altLang="en-US" sz="1800" dirty="0"/>
              <a:t>구축</a:t>
            </a:r>
            <a:endParaRPr lang="en-US" altLang="ko-KR" sz="1800" dirty="0"/>
          </a:p>
          <a:p>
            <a:pPr lvl="1">
              <a:spcAft>
                <a:spcPts val="600"/>
              </a:spcAft>
            </a:pPr>
            <a:r>
              <a:rPr lang="ko-KR" altLang="en-US" sz="1800" dirty="0"/>
              <a:t> </a:t>
            </a:r>
            <a:r>
              <a:rPr lang="en-US" altLang="ko-KR" sz="1800" dirty="0"/>
              <a:t>- </a:t>
            </a:r>
            <a:r>
              <a:rPr lang="ko-KR" altLang="en-US" sz="1800" dirty="0"/>
              <a:t>소스 코드 저장 및 버전관리</a:t>
            </a:r>
            <a:endParaRPr lang="en-US" altLang="ko-KR" sz="1800" dirty="0"/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altLang="ko-KR" sz="1800" dirty="0"/>
              <a:t>Jenkins </a:t>
            </a:r>
            <a:r>
              <a:rPr lang="ko-KR" altLang="en-US" sz="1800" dirty="0"/>
              <a:t>구축</a:t>
            </a:r>
            <a:endParaRPr lang="en-US" altLang="ko-KR" sz="1800" dirty="0"/>
          </a:p>
          <a:p>
            <a:pPr lvl="1">
              <a:spcAft>
                <a:spcPts val="600"/>
              </a:spcAft>
            </a:pPr>
            <a:r>
              <a:rPr lang="ko-KR" altLang="en-US" sz="1800" dirty="0"/>
              <a:t> </a:t>
            </a:r>
            <a:r>
              <a:rPr lang="en-US" altLang="ko-KR" sz="1800" dirty="0"/>
              <a:t>- </a:t>
            </a:r>
            <a:r>
              <a:rPr lang="ko-KR" altLang="en-US" sz="1800" dirty="0"/>
              <a:t>코드 빌드</a:t>
            </a:r>
            <a:r>
              <a:rPr lang="en-US" altLang="ko-KR" sz="1800" dirty="0"/>
              <a:t>, </a:t>
            </a:r>
            <a:r>
              <a:rPr lang="ko-KR" altLang="en-US" sz="1800" dirty="0"/>
              <a:t>배포 자동화 엔진</a:t>
            </a:r>
            <a:endParaRPr lang="en-US" altLang="ko-KR" sz="1800" dirty="0"/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altLang="ko-KR" sz="1800" dirty="0"/>
              <a:t>API Gateway </a:t>
            </a:r>
            <a:r>
              <a:rPr lang="ko-KR" altLang="en-US" sz="1800" dirty="0"/>
              <a:t>구축</a:t>
            </a:r>
            <a:endParaRPr lang="en-US" altLang="ko-KR" sz="1800" dirty="0"/>
          </a:p>
          <a:p>
            <a:pPr lvl="1">
              <a:spcAft>
                <a:spcPts val="600"/>
              </a:spcAft>
            </a:pPr>
            <a:r>
              <a:rPr lang="en-US" altLang="ko-KR" sz="1800" dirty="0"/>
              <a:t> - API </a:t>
            </a:r>
            <a:r>
              <a:rPr lang="ko-KR" altLang="en-US" sz="1800" dirty="0"/>
              <a:t>호출 관리 및 접속 경로 제어</a:t>
            </a:r>
            <a:endParaRPr lang="en-US" altLang="ko-KR" sz="1800" dirty="0"/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altLang="ko-KR" sz="1800" dirty="0"/>
              <a:t>Nexus Repository </a:t>
            </a:r>
            <a:r>
              <a:rPr lang="ko-KR" altLang="en-US" sz="1800" dirty="0"/>
              <a:t>구축</a:t>
            </a:r>
            <a:endParaRPr lang="en-US" altLang="ko-KR" sz="1800" dirty="0"/>
          </a:p>
          <a:p>
            <a:pPr lvl="1">
              <a:spcAft>
                <a:spcPts val="600"/>
              </a:spcAft>
            </a:pPr>
            <a:r>
              <a:rPr lang="en-US" altLang="ko-KR" sz="1800" dirty="0"/>
              <a:t> - S/W</a:t>
            </a:r>
            <a:r>
              <a:rPr lang="ko-KR" altLang="en-US" sz="1800" dirty="0"/>
              <a:t>빌드에 필요한 라이브러리</a:t>
            </a:r>
            <a:r>
              <a:rPr lang="en-US" altLang="ko-KR" sz="1800" dirty="0"/>
              <a:t>/</a:t>
            </a:r>
            <a:r>
              <a:rPr lang="ko-KR" altLang="en-US" sz="1800" dirty="0"/>
              <a:t>모듈 관리</a:t>
            </a:r>
            <a:endParaRPr lang="en-US" altLang="ko-KR" sz="1800" dirty="0"/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altLang="ko-KR" sz="1800" dirty="0"/>
              <a:t>Docker Registry </a:t>
            </a:r>
            <a:r>
              <a:rPr lang="ko-KR" altLang="en-US" sz="1800" dirty="0"/>
              <a:t>구축</a:t>
            </a:r>
            <a:endParaRPr lang="en-US" altLang="ko-KR" sz="1800" dirty="0"/>
          </a:p>
          <a:p>
            <a:pPr lvl="1">
              <a:spcAft>
                <a:spcPts val="600"/>
              </a:spcAft>
            </a:pPr>
            <a:r>
              <a:rPr lang="ko-KR" altLang="en-US" sz="1800" dirty="0"/>
              <a:t> </a:t>
            </a:r>
            <a:r>
              <a:rPr lang="en-US" altLang="ko-KR" sz="1800" dirty="0"/>
              <a:t>- </a:t>
            </a:r>
            <a:r>
              <a:rPr lang="ko-KR" altLang="en-US" sz="1800" dirty="0" err="1"/>
              <a:t>도커</a:t>
            </a:r>
            <a:r>
              <a:rPr lang="ko-KR" altLang="en-US" sz="1800" dirty="0"/>
              <a:t> 이미지 저장 및 배포</a:t>
            </a:r>
            <a:endParaRPr lang="en-US" altLang="ko-KR" sz="1800" dirty="0"/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ko-KR" altLang="en-US" sz="1800" dirty="0"/>
              <a:t>플랫폼 개발시스템 구축</a:t>
            </a:r>
            <a:endParaRPr lang="en-US" altLang="ko-KR" sz="1800" dirty="0"/>
          </a:p>
          <a:p>
            <a:pPr lvl="1"/>
            <a:r>
              <a:rPr lang="ko-KR" altLang="en-US" sz="1800" dirty="0"/>
              <a:t> </a:t>
            </a:r>
            <a:r>
              <a:rPr lang="en-US" altLang="ko-KR" sz="1800" dirty="0"/>
              <a:t>- </a:t>
            </a:r>
            <a:r>
              <a:rPr lang="ko-KR" altLang="en-US" sz="1800" dirty="0"/>
              <a:t>개발 및 배포 이력관리</a:t>
            </a:r>
          </a:p>
          <a:p>
            <a:pPr lvl="1">
              <a:spcAft>
                <a:spcPts val="600"/>
              </a:spcAft>
            </a:pPr>
            <a:r>
              <a:rPr lang="ko-KR" altLang="en-US" sz="1800" dirty="0"/>
              <a:t> </a:t>
            </a:r>
            <a:r>
              <a:rPr lang="en-US" altLang="ko-KR" sz="1800" dirty="0"/>
              <a:t>- </a:t>
            </a:r>
            <a:r>
              <a:rPr lang="ko-KR" altLang="en-US" sz="1800" dirty="0"/>
              <a:t>배포 시 운영자 승인관리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01F8AAE-5288-1EC9-B1D9-50BF8C67D453}"/>
              </a:ext>
            </a:extLst>
          </p:cNvPr>
          <p:cNvSpPr/>
          <p:nvPr/>
        </p:nvSpPr>
        <p:spPr bwMode="auto">
          <a:xfrm>
            <a:off x="573088" y="1557338"/>
            <a:ext cx="8356600" cy="4580838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</p:spPr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C5C9568-5B57-60F7-D98B-889F0E0CBE5D}"/>
              </a:ext>
            </a:extLst>
          </p:cNvPr>
          <p:cNvSpPr/>
          <p:nvPr/>
        </p:nvSpPr>
        <p:spPr bwMode="auto">
          <a:xfrm>
            <a:off x="6883454" y="3155440"/>
            <a:ext cx="5010889" cy="135561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altLang="ko-KR" sz="2800" dirty="0"/>
              <a:t>2026</a:t>
            </a:r>
            <a:r>
              <a:rPr lang="ko-KR" altLang="en-US" sz="2800" dirty="0"/>
              <a:t>년 준공이전 달성 과업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34051131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pattFill prst="dkHorz">
          <a:fgClr>
            <a:srgbClr val="EAEAEA"/>
          </a:fgClr>
          <a:bgClr>
            <a:srgbClr val="FFFFFF"/>
          </a:bgClr>
        </a:pattFill>
        <a:ln w="28575" algn="ctr">
          <a:solidFill>
            <a:srgbClr val="DDDDDD"/>
          </a:solidFill>
          <a:miter lim="800000"/>
          <a:headEnd/>
          <a:tailEnd/>
        </a:ln>
      </a:spPr>
      <a:bodyPr wrap="none" anchor="ctr"/>
      <a:lstStyle>
        <a:defPPr fontAlgn="base">
          <a:spcBef>
            <a:spcPct val="0"/>
          </a:spcBef>
          <a:spcAft>
            <a:spcPct val="0"/>
          </a:spcAft>
          <a:defRPr kumimoji="1" sz="2400">
            <a:solidFill>
              <a:srgbClr val="000000"/>
            </a:solidFill>
            <a:latin typeface="맑은 고딕" pitchFamily="50" charset="-127"/>
            <a:ea typeface="맑은 고딕" pitchFamily="50" charset="-127"/>
          </a:defRPr>
        </a:defPPr>
      </a:lstStyle>
    </a:spDef>
  </a:objectDefaults>
  <a:extraClrSchemeLst>
    <a:extraClrScheme>
      <a:clrScheme name="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27781</TotalTime>
  <Words>544</Words>
  <Application>Microsoft Office PowerPoint</Application>
  <PresentationFormat>사용자 지정</PresentationFormat>
  <Paragraphs>124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나눔바른고딕</vt:lpstr>
      <vt:lpstr>맑은 고딕</vt:lpstr>
      <vt:lpstr>프리젠테이션 5 Medium</vt:lpstr>
      <vt:lpstr>Arial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onpoom</dc:creator>
  <cp:lastModifiedBy>정 기찬</cp:lastModifiedBy>
  <cp:revision>717</cp:revision>
  <cp:lastPrinted>2024-04-23T01:58:56Z</cp:lastPrinted>
  <dcterms:created xsi:type="dcterms:W3CDTF">2016-02-02T08:14:26Z</dcterms:created>
  <dcterms:modified xsi:type="dcterms:W3CDTF">2025-11-05T07:38:49Z</dcterms:modified>
</cp:coreProperties>
</file>